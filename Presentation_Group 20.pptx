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Archivo Black" panose="020B0604020202020204" charset="0"/>
      <p:regular r:id="rId15"/>
    </p:embeddedFont>
    <p:embeddedFont>
      <p:font typeface="Calibri" panose="020F0502020204030204" pitchFamily="34" charset="0"/>
      <p:regular r:id="rId16"/>
      <p:bold r:id="rId17"/>
      <p:italic r:id="rId18"/>
      <p:boldItalic r:id="rId19"/>
    </p:embeddedFont>
    <p:embeddedFont>
      <p:font typeface="Canva Sans Bold" panose="020B0604020202020204" charset="0"/>
      <p:regular r:id="rId20"/>
    </p:embeddedFont>
    <p:embeddedFont>
      <p:font typeface="Rubik Medium" panose="020B0604020202020204" charset="-79"/>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52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jpeg"/><Relationship Id="rId9" Type="http://schemas.openxmlformats.org/officeDocument/2006/relationships/image" Target="../media/image10.png"/><Relationship Id="rId14" Type="http://schemas.openxmlformats.org/officeDocument/2006/relationships/image" Target="../media/image15.svg"/></Relationships>
</file>

<file path=ppt/slides/_rels/slide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6.png"/><Relationship Id="rId3" Type="http://schemas.openxmlformats.org/officeDocument/2006/relationships/image" Target="../media/image13.svg"/><Relationship Id="rId7" Type="http://schemas.openxmlformats.org/officeDocument/2006/relationships/image" Target="../media/image19.svg"/><Relationship Id="rId12" Type="http://schemas.openxmlformats.org/officeDocument/2006/relationships/image" Target="../media/image22.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21.png"/><Relationship Id="rId5" Type="http://schemas.openxmlformats.org/officeDocument/2006/relationships/image" Target="../media/image9.svg"/><Relationship Id="rId15" Type="http://schemas.openxmlformats.org/officeDocument/2006/relationships/image" Target="../media/image23.png"/><Relationship Id="rId10" Type="http://schemas.openxmlformats.org/officeDocument/2006/relationships/image" Target="../media/image15.svg"/><Relationship Id="rId4" Type="http://schemas.openxmlformats.org/officeDocument/2006/relationships/image" Target="../media/image8.png"/><Relationship Id="rId9" Type="http://schemas.openxmlformats.org/officeDocument/2006/relationships/image" Target="../media/image14.png"/><Relationship Id="rId1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sv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sv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7.xml"/><Relationship Id="rId4" Type="http://schemas.openxmlformats.org/officeDocument/2006/relationships/image" Target="../media/image41.svg"/></Relationships>
</file>

<file path=ppt/slides/_rels/slide12.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7181" y="-346765"/>
            <a:ext cx="22587926" cy="11436870"/>
          </a:xfrm>
          <a:custGeom>
            <a:avLst/>
            <a:gdLst/>
            <a:ahLst/>
            <a:cxnLst/>
            <a:rect l="l" t="t" r="r" b="b"/>
            <a:pathLst>
              <a:path w="22587926" h="11436870">
                <a:moveTo>
                  <a:pt x="0" y="0"/>
                </a:moveTo>
                <a:lnTo>
                  <a:pt x="22587926" y="0"/>
                </a:lnTo>
                <a:lnTo>
                  <a:pt x="22587926" y="11436871"/>
                </a:lnTo>
                <a:lnTo>
                  <a:pt x="0" y="11436871"/>
                </a:lnTo>
                <a:lnTo>
                  <a:pt x="0" y="0"/>
                </a:lnTo>
                <a:close/>
              </a:path>
            </a:pathLst>
          </a:custGeom>
          <a:blipFill>
            <a:blip r:embed="rId2"/>
            <a:stretch>
              <a:fillRect t="-5547" b="-5547"/>
            </a:stretch>
          </a:blipFill>
        </p:spPr>
        <p:txBody>
          <a:bodyPr/>
          <a:lstStyle/>
          <a:p>
            <a:endParaRPr lang="en-US"/>
          </a:p>
        </p:txBody>
      </p:sp>
      <p:grpSp>
        <p:nvGrpSpPr>
          <p:cNvPr id="3" name="Group 3"/>
          <p:cNvGrpSpPr/>
          <p:nvPr/>
        </p:nvGrpSpPr>
        <p:grpSpPr>
          <a:xfrm>
            <a:off x="15745927" y="9309579"/>
            <a:ext cx="2395124" cy="977421"/>
            <a:chOff x="0" y="0"/>
            <a:chExt cx="708594" cy="289169"/>
          </a:xfrm>
        </p:grpSpPr>
        <p:sp>
          <p:nvSpPr>
            <p:cNvPr id="4" name="Freeform 4"/>
            <p:cNvSpPr/>
            <p:nvPr/>
          </p:nvSpPr>
          <p:spPr>
            <a:xfrm>
              <a:off x="0" y="0"/>
              <a:ext cx="708594" cy="289169"/>
            </a:xfrm>
            <a:custGeom>
              <a:avLst/>
              <a:gdLst/>
              <a:ahLst/>
              <a:cxnLst/>
              <a:rect l="l" t="t" r="r" b="b"/>
              <a:pathLst>
                <a:path w="708594" h="289169">
                  <a:moveTo>
                    <a:pt x="505394" y="0"/>
                  </a:moveTo>
                  <a:lnTo>
                    <a:pt x="0" y="0"/>
                  </a:lnTo>
                  <a:lnTo>
                    <a:pt x="0" y="289169"/>
                  </a:lnTo>
                  <a:lnTo>
                    <a:pt x="505394" y="289169"/>
                  </a:lnTo>
                  <a:lnTo>
                    <a:pt x="708594" y="144584"/>
                  </a:lnTo>
                  <a:lnTo>
                    <a:pt x="505394" y="0"/>
                  </a:lnTo>
                  <a:close/>
                </a:path>
              </a:pathLst>
            </a:custGeom>
            <a:solidFill>
              <a:srgbClr val="B1C9EB"/>
            </a:solidFill>
          </p:spPr>
          <p:txBody>
            <a:bodyPr/>
            <a:lstStyle/>
            <a:p>
              <a:endParaRPr lang="en-US"/>
            </a:p>
          </p:txBody>
        </p:sp>
        <p:sp>
          <p:nvSpPr>
            <p:cNvPr id="5" name="TextBox 5"/>
            <p:cNvSpPr txBox="1"/>
            <p:nvPr/>
          </p:nvSpPr>
          <p:spPr>
            <a:xfrm>
              <a:off x="0" y="-28575"/>
              <a:ext cx="594294" cy="317744"/>
            </a:xfrm>
            <a:prstGeom prst="rect">
              <a:avLst/>
            </a:prstGeom>
          </p:spPr>
          <p:txBody>
            <a:bodyPr lIns="50800" tIns="50800" rIns="50800" bIns="50800" rtlCol="0" anchor="ctr"/>
            <a:lstStyle/>
            <a:p>
              <a:pPr algn="ctr">
                <a:lnSpc>
                  <a:spcPts val="2376"/>
                </a:lnSpc>
              </a:pPr>
              <a:endParaRPr/>
            </a:p>
          </p:txBody>
        </p:sp>
      </p:grpSp>
      <p:sp>
        <p:nvSpPr>
          <p:cNvPr id="6" name="TextBox 6"/>
          <p:cNvSpPr txBox="1"/>
          <p:nvPr/>
        </p:nvSpPr>
        <p:spPr>
          <a:xfrm>
            <a:off x="811053" y="2324100"/>
            <a:ext cx="9959956" cy="3318857"/>
          </a:xfrm>
          <a:prstGeom prst="rect">
            <a:avLst/>
          </a:prstGeom>
        </p:spPr>
        <p:txBody>
          <a:bodyPr lIns="0" tIns="0" rIns="0" bIns="0" rtlCol="0" anchor="t">
            <a:spAutoFit/>
          </a:bodyPr>
          <a:lstStyle/>
          <a:p>
            <a:pPr>
              <a:lnSpc>
                <a:spcPts val="13438"/>
              </a:lnSpc>
              <a:spcBef>
                <a:spcPct val="0"/>
              </a:spcBef>
            </a:pPr>
            <a:r>
              <a:rPr lang="en-US" sz="9598" b="1" dirty="0">
                <a:solidFill>
                  <a:srgbClr val="010B39"/>
                </a:solidFill>
                <a:latin typeface="Rubik Medium"/>
                <a:ea typeface="Rubik Medium"/>
                <a:cs typeface="Rubik Medium"/>
                <a:sym typeface="Rubik Medium"/>
              </a:rPr>
              <a:t>Time-Wasters on </a:t>
            </a:r>
          </a:p>
        </p:txBody>
      </p:sp>
      <p:sp>
        <p:nvSpPr>
          <p:cNvPr id="7" name="TextBox 7"/>
          <p:cNvSpPr txBox="1"/>
          <p:nvPr/>
        </p:nvSpPr>
        <p:spPr>
          <a:xfrm>
            <a:off x="795813" y="5595328"/>
            <a:ext cx="10456209" cy="1833274"/>
          </a:xfrm>
          <a:prstGeom prst="rect">
            <a:avLst/>
          </a:prstGeom>
        </p:spPr>
        <p:txBody>
          <a:bodyPr lIns="0" tIns="0" rIns="0" bIns="0" rtlCol="0" anchor="t">
            <a:spAutoFit/>
          </a:bodyPr>
          <a:lstStyle/>
          <a:p>
            <a:pPr algn="l">
              <a:lnSpc>
                <a:spcPts val="14935"/>
              </a:lnSpc>
              <a:spcBef>
                <a:spcPct val="0"/>
              </a:spcBef>
            </a:pPr>
            <a:r>
              <a:rPr lang="en-US" sz="10668" b="1" dirty="0">
                <a:solidFill>
                  <a:srgbClr val="3D55CD"/>
                </a:solidFill>
                <a:latin typeface="Rubik Medium"/>
                <a:ea typeface="Rubik Medium"/>
                <a:cs typeface="Rubik Medium"/>
                <a:sym typeface="Rubik Medium"/>
              </a:rPr>
              <a:t>Social Media</a:t>
            </a:r>
          </a:p>
        </p:txBody>
      </p:sp>
      <p:sp>
        <p:nvSpPr>
          <p:cNvPr id="8" name="TextBox 8"/>
          <p:cNvSpPr txBox="1"/>
          <p:nvPr/>
        </p:nvSpPr>
        <p:spPr>
          <a:xfrm>
            <a:off x="15848354" y="9468271"/>
            <a:ext cx="1862305" cy="583838"/>
          </a:xfrm>
          <a:prstGeom prst="rect">
            <a:avLst/>
          </a:prstGeom>
        </p:spPr>
        <p:txBody>
          <a:bodyPr lIns="0" tIns="0" rIns="0" bIns="0" rtlCol="0" anchor="t">
            <a:spAutoFit/>
          </a:bodyPr>
          <a:lstStyle/>
          <a:p>
            <a:pPr algn="ctr">
              <a:lnSpc>
                <a:spcPts val="4736"/>
              </a:lnSpc>
            </a:pPr>
            <a:r>
              <a:rPr lang="en-US" sz="3382" dirty="0">
                <a:solidFill>
                  <a:srgbClr val="FFFFFF"/>
                </a:solidFill>
                <a:latin typeface="Archivo Black"/>
                <a:ea typeface="Archivo Black"/>
                <a:cs typeface="Archivo Black"/>
                <a:sym typeface="Archivo Black"/>
              </a:rPr>
              <a:t>page 01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37000">
              <a:schemeClr val="accent1">
                <a:lumMod val="45000"/>
                <a:lumOff val="55000"/>
              </a:schemeClr>
            </a:gs>
            <a:gs pos="52000">
              <a:schemeClr val="accent1">
                <a:lumMod val="45000"/>
                <a:lumOff val="55000"/>
              </a:schemeClr>
            </a:gs>
            <a:gs pos="58000">
              <a:schemeClr val="accent1">
                <a:lumMod val="30000"/>
                <a:lumOff val="70000"/>
                <a:alpha val="20000"/>
              </a:schemeClr>
            </a:gs>
          </a:gsLst>
          <a:lin ang="5400000" scaled="1"/>
        </a:gradFill>
        <a:effectLst/>
      </p:bgPr>
    </p:bg>
    <p:spTree>
      <p:nvGrpSpPr>
        <p:cNvPr id="1" name=""/>
        <p:cNvGrpSpPr/>
        <p:nvPr/>
      </p:nvGrpSpPr>
      <p:grpSpPr>
        <a:xfrm>
          <a:off x="0" y="0"/>
          <a:ext cx="0" cy="0"/>
          <a:chOff x="0" y="0"/>
          <a:chExt cx="0" cy="0"/>
        </a:xfrm>
      </p:grpSpPr>
      <p:sp>
        <p:nvSpPr>
          <p:cNvPr id="2" name="Freeform 2"/>
          <p:cNvSpPr/>
          <p:nvPr/>
        </p:nvSpPr>
        <p:spPr>
          <a:xfrm>
            <a:off x="-1" y="7620"/>
            <a:ext cx="18288000" cy="11452860"/>
          </a:xfrm>
          <a:custGeom>
            <a:avLst/>
            <a:gdLst/>
            <a:ahLst/>
            <a:cxnLst/>
            <a:rect l="l" t="t" r="r" b="b"/>
            <a:pathLst>
              <a:path w="18288000" h="11452860">
                <a:moveTo>
                  <a:pt x="0" y="0"/>
                </a:moveTo>
                <a:lnTo>
                  <a:pt x="18288000" y="0"/>
                </a:lnTo>
                <a:lnTo>
                  <a:pt x="18288000" y="11452860"/>
                </a:lnTo>
                <a:lnTo>
                  <a:pt x="0" y="11452860"/>
                </a:lnTo>
                <a:lnTo>
                  <a:pt x="0" y="0"/>
                </a:lnTo>
                <a:close/>
              </a:path>
            </a:pathLst>
          </a:custGeom>
          <a:blipFill>
            <a:blip r:embed="rId2">
              <a:alphaModFix amt="72000"/>
            </a:blip>
            <a:stretch>
              <a:fillRect/>
            </a:stretch>
          </a:blipFill>
        </p:spPr>
        <p:txBody>
          <a:bodyPr/>
          <a:lstStyle/>
          <a:p>
            <a:endParaRPr lang="en-US"/>
          </a:p>
        </p:txBody>
      </p:sp>
      <p:sp>
        <p:nvSpPr>
          <p:cNvPr id="3" name="TextBox 3"/>
          <p:cNvSpPr txBox="1"/>
          <p:nvPr/>
        </p:nvSpPr>
        <p:spPr>
          <a:xfrm>
            <a:off x="0" y="647700"/>
            <a:ext cx="14097000" cy="1534010"/>
          </a:xfrm>
          <a:prstGeom prst="rect">
            <a:avLst/>
          </a:prstGeom>
        </p:spPr>
        <p:txBody>
          <a:bodyPr wrap="square" lIns="0" tIns="0" rIns="0" bIns="0" rtlCol="0" anchor="t">
            <a:spAutoFit/>
          </a:bodyPr>
          <a:lstStyle/>
          <a:p>
            <a:pPr marL="0" lvl="0" indent="0" algn="ctr">
              <a:lnSpc>
                <a:spcPts val="12810"/>
              </a:lnSpc>
              <a:spcBef>
                <a:spcPct val="0"/>
              </a:spcBef>
            </a:pPr>
            <a:r>
              <a:rPr lang="en-US" sz="9150" b="1" dirty="0">
                <a:solidFill>
                  <a:srgbClr val="000000"/>
                </a:solidFill>
                <a:latin typeface="Canva Sans Bold" panose="020B0604020202020204" charset="0"/>
                <a:ea typeface="Arial Bold"/>
                <a:cs typeface="Arial Bold"/>
                <a:sym typeface="Arial Bold"/>
              </a:rPr>
              <a:t>INTRODUCTION</a:t>
            </a:r>
          </a:p>
        </p:txBody>
      </p:sp>
      <p:grpSp>
        <p:nvGrpSpPr>
          <p:cNvPr id="4" name="Group 4"/>
          <p:cNvGrpSpPr/>
          <p:nvPr/>
        </p:nvGrpSpPr>
        <p:grpSpPr>
          <a:xfrm>
            <a:off x="15745927" y="9309579"/>
            <a:ext cx="2395124" cy="977421"/>
            <a:chOff x="0" y="0"/>
            <a:chExt cx="708594" cy="289169"/>
          </a:xfrm>
        </p:grpSpPr>
        <p:sp>
          <p:nvSpPr>
            <p:cNvPr id="5" name="Freeform 5"/>
            <p:cNvSpPr/>
            <p:nvPr/>
          </p:nvSpPr>
          <p:spPr>
            <a:xfrm>
              <a:off x="0" y="0"/>
              <a:ext cx="708594" cy="289169"/>
            </a:xfrm>
            <a:custGeom>
              <a:avLst/>
              <a:gdLst/>
              <a:ahLst/>
              <a:cxnLst/>
              <a:rect l="l" t="t" r="r" b="b"/>
              <a:pathLst>
                <a:path w="708594" h="289169">
                  <a:moveTo>
                    <a:pt x="505394" y="0"/>
                  </a:moveTo>
                  <a:lnTo>
                    <a:pt x="0" y="0"/>
                  </a:lnTo>
                  <a:lnTo>
                    <a:pt x="0" y="289169"/>
                  </a:lnTo>
                  <a:lnTo>
                    <a:pt x="505394" y="289169"/>
                  </a:lnTo>
                  <a:lnTo>
                    <a:pt x="708594" y="144584"/>
                  </a:lnTo>
                  <a:lnTo>
                    <a:pt x="505394" y="0"/>
                  </a:lnTo>
                  <a:close/>
                </a:path>
              </a:pathLst>
            </a:custGeom>
            <a:solidFill>
              <a:srgbClr val="B1C9EB"/>
            </a:solidFill>
          </p:spPr>
          <p:txBody>
            <a:bodyPr/>
            <a:lstStyle/>
            <a:p>
              <a:endParaRPr lang="en-US"/>
            </a:p>
          </p:txBody>
        </p:sp>
        <p:sp>
          <p:nvSpPr>
            <p:cNvPr id="6" name="TextBox 6"/>
            <p:cNvSpPr txBox="1"/>
            <p:nvPr/>
          </p:nvSpPr>
          <p:spPr>
            <a:xfrm>
              <a:off x="0" y="-28575"/>
              <a:ext cx="594294" cy="317744"/>
            </a:xfrm>
            <a:prstGeom prst="rect">
              <a:avLst/>
            </a:prstGeom>
          </p:spPr>
          <p:txBody>
            <a:bodyPr lIns="50800" tIns="50800" rIns="50800" bIns="50800" rtlCol="0" anchor="ctr"/>
            <a:lstStyle/>
            <a:p>
              <a:pPr algn="ctr">
                <a:lnSpc>
                  <a:spcPts val="2376"/>
                </a:lnSpc>
              </a:pPr>
              <a:endParaRPr/>
            </a:p>
          </p:txBody>
        </p:sp>
      </p:grpSp>
      <p:sp>
        <p:nvSpPr>
          <p:cNvPr id="7" name="TextBox 7"/>
          <p:cNvSpPr txBox="1"/>
          <p:nvPr/>
        </p:nvSpPr>
        <p:spPr>
          <a:xfrm>
            <a:off x="15848354" y="9468271"/>
            <a:ext cx="1862305" cy="583838"/>
          </a:xfrm>
          <a:prstGeom prst="rect">
            <a:avLst/>
          </a:prstGeom>
        </p:spPr>
        <p:txBody>
          <a:bodyPr lIns="0" tIns="0" rIns="0" bIns="0" rtlCol="0" anchor="t">
            <a:spAutoFit/>
          </a:bodyPr>
          <a:lstStyle/>
          <a:p>
            <a:pPr algn="ctr">
              <a:lnSpc>
                <a:spcPts val="4736"/>
              </a:lnSpc>
            </a:pPr>
            <a:r>
              <a:rPr lang="en-US" sz="3382" dirty="0">
                <a:solidFill>
                  <a:srgbClr val="FFFFFF"/>
                </a:solidFill>
                <a:latin typeface="Archivo Black"/>
                <a:ea typeface="Archivo Black"/>
                <a:cs typeface="Archivo Black"/>
                <a:sym typeface="Archivo Black"/>
              </a:rPr>
              <a:t>page 02</a:t>
            </a:r>
          </a:p>
        </p:txBody>
      </p:sp>
      <p:sp>
        <p:nvSpPr>
          <p:cNvPr id="8" name="TextBox 7">
            <a:extLst>
              <a:ext uri="{FF2B5EF4-FFF2-40B4-BE49-F238E27FC236}">
                <a16:creationId xmlns:a16="http://schemas.microsoft.com/office/drawing/2014/main" id="{BAC0E8D0-F8C8-1EBE-321A-70DD7CD05C25}"/>
              </a:ext>
            </a:extLst>
          </p:cNvPr>
          <p:cNvSpPr txBox="1"/>
          <p:nvPr/>
        </p:nvSpPr>
        <p:spPr>
          <a:xfrm>
            <a:off x="2095500" y="3189119"/>
            <a:ext cx="13650427" cy="4832092"/>
          </a:xfrm>
          <a:prstGeom prst="rect">
            <a:avLst/>
          </a:prstGeom>
          <a:solidFill>
            <a:schemeClr val="tx2">
              <a:lumMod val="20000"/>
              <a:lumOff val="80000"/>
            </a:schemeClr>
          </a:solidFill>
        </p:spPr>
        <p:txBody>
          <a:bodyPr wrap="square" rtlCol="0">
            <a:spAutoFit/>
          </a:bodyPr>
          <a:lstStyle/>
          <a:p>
            <a:pPr algn="just"/>
            <a:r>
              <a:rPr lang="en-US" sz="4400" b="1" dirty="0">
                <a:latin typeface="Canva Sans"/>
                <a:cs typeface="Times New Roman" panose="02020603050405020304" pitchFamily="18" charset="0"/>
              </a:rPr>
              <a:t>The "Time-Wasters on Social Media" dataset analyzes social media habits across demographic groups focusing on psychological factors like productivity loss and addiction. It offers insights into behavioral patterns, usage reasons, and social media's impact on daily life.</a:t>
            </a:r>
          </a:p>
          <a:p>
            <a:endParaRPr lang="en-US" sz="4400" dirty="0">
              <a:latin typeface="Canva Sans Bold" panose="020B0604020202020204" charset="0"/>
            </a:endParaRPr>
          </a:p>
          <a:p>
            <a:endParaRPr lang="en-US" sz="4400" dirty="0">
              <a:latin typeface="Canva Sans Bold" panose="020B06040202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1C9EB"/>
        </a:solidFill>
        <a:effectLst/>
      </p:bgPr>
    </p:bg>
    <p:spTree>
      <p:nvGrpSpPr>
        <p:cNvPr id="1" name=""/>
        <p:cNvGrpSpPr/>
        <p:nvPr/>
      </p:nvGrpSpPr>
      <p:grpSpPr>
        <a:xfrm>
          <a:off x="0" y="0"/>
          <a:ext cx="0" cy="0"/>
          <a:chOff x="0" y="0"/>
          <a:chExt cx="0" cy="0"/>
        </a:xfrm>
      </p:grpSpPr>
      <p:grpSp>
        <p:nvGrpSpPr>
          <p:cNvPr id="2" name="Group 2"/>
          <p:cNvGrpSpPr/>
          <p:nvPr/>
        </p:nvGrpSpPr>
        <p:grpSpPr>
          <a:xfrm>
            <a:off x="9840280" y="0"/>
            <a:ext cx="5579246" cy="4541936"/>
            <a:chOff x="0" y="0"/>
            <a:chExt cx="7438995" cy="6055915"/>
          </a:xfrm>
        </p:grpSpPr>
        <p:sp>
          <p:nvSpPr>
            <p:cNvPr id="3" name="Freeform 3"/>
            <p:cNvSpPr/>
            <p:nvPr/>
          </p:nvSpPr>
          <p:spPr>
            <a:xfrm>
              <a:off x="0" y="1726285"/>
              <a:ext cx="6498506" cy="4329630"/>
            </a:xfrm>
            <a:custGeom>
              <a:avLst/>
              <a:gdLst/>
              <a:ahLst/>
              <a:cxnLst/>
              <a:rect l="l" t="t" r="r" b="b"/>
              <a:pathLst>
                <a:path w="6498506" h="4329630">
                  <a:moveTo>
                    <a:pt x="0" y="0"/>
                  </a:moveTo>
                  <a:lnTo>
                    <a:pt x="6498506" y="0"/>
                  </a:lnTo>
                  <a:lnTo>
                    <a:pt x="6498506" y="4329630"/>
                  </a:lnTo>
                  <a:lnTo>
                    <a:pt x="0" y="4329630"/>
                  </a:lnTo>
                  <a:lnTo>
                    <a:pt x="0" y="0"/>
                  </a:lnTo>
                  <a:close/>
                </a:path>
              </a:pathLst>
            </a:custGeom>
            <a:blipFill>
              <a:blip r:embed="rId2"/>
              <a:stretch>
                <a:fillRect/>
              </a:stretch>
            </a:blipFill>
          </p:spPr>
          <p:txBody>
            <a:bodyPr/>
            <a:lstStyle/>
            <a:p>
              <a:endParaRPr lang="en-US"/>
            </a:p>
          </p:txBody>
        </p:sp>
        <p:sp>
          <p:nvSpPr>
            <p:cNvPr id="4" name="Freeform 4"/>
            <p:cNvSpPr/>
            <p:nvPr/>
          </p:nvSpPr>
          <p:spPr>
            <a:xfrm rot="-988222">
              <a:off x="3249253" y="460636"/>
              <a:ext cx="3763459" cy="3551764"/>
            </a:xfrm>
            <a:custGeom>
              <a:avLst/>
              <a:gdLst/>
              <a:ahLst/>
              <a:cxnLst/>
              <a:rect l="l" t="t" r="r" b="b"/>
              <a:pathLst>
                <a:path w="3763459" h="3551764">
                  <a:moveTo>
                    <a:pt x="0" y="0"/>
                  </a:moveTo>
                  <a:lnTo>
                    <a:pt x="3763459" y="0"/>
                  </a:lnTo>
                  <a:lnTo>
                    <a:pt x="3763459" y="3551765"/>
                  </a:lnTo>
                  <a:lnTo>
                    <a:pt x="0" y="3551765"/>
                  </a:lnTo>
                  <a:lnTo>
                    <a:pt x="0" y="0"/>
                  </a:lnTo>
                  <a:close/>
                </a:path>
              </a:pathLst>
            </a:custGeom>
            <a:blipFill>
              <a:blip r:embed="rId3"/>
              <a:stretch>
                <a:fillRect/>
              </a:stretch>
            </a:blipFill>
          </p:spPr>
          <p:txBody>
            <a:bodyPr/>
            <a:lstStyle/>
            <a:p>
              <a:endParaRPr lang="en-US"/>
            </a:p>
          </p:txBody>
        </p:sp>
      </p:grpSp>
      <p:sp>
        <p:nvSpPr>
          <p:cNvPr id="5" name="Freeform 5"/>
          <p:cNvSpPr/>
          <p:nvPr/>
        </p:nvSpPr>
        <p:spPr>
          <a:xfrm>
            <a:off x="12344517" y="6562866"/>
            <a:ext cx="4038104" cy="2695434"/>
          </a:xfrm>
          <a:custGeom>
            <a:avLst/>
            <a:gdLst/>
            <a:ahLst/>
            <a:cxnLst/>
            <a:rect l="l" t="t" r="r" b="b"/>
            <a:pathLst>
              <a:path w="4038104" h="2695434">
                <a:moveTo>
                  <a:pt x="0" y="0"/>
                </a:moveTo>
                <a:lnTo>
                  <a:pt x="4038104" y="0"/>
                </a:lnTo>
                <a:lnTo>
                  <a:pt x="4038104" y="2695434"/>
                </a:lnTo>
                <a:lnTo>
                  <a:pt x="0" y="2695434"/>
                </a:lnTo>
                <a:lnTo>
                  <a:pt x="0" y="0"/>
                </a:lnTo>
                <a:close/>
              </a:path>
            </a:pathLst>
          </a:custGeom>
          <a:blipFill>
            <a:blip r:embed="rId4"/>
            <a:stretch>
              <a:fillRect/>
            </a:stretch>
          </a:blipFill>
        </p:spPr>
        <p:txBody>
          <a:bodyPr/>
          <a:lstStyle/>
          <a:p>
            <a:endParaRPr lang="en-US"/>
          </a:p>
        </p:txBody>
      </p:sp>
      <p:sp>
        <p:nvSpPr>
          <p:cNvPr id="6" name="Freeform 6"/>
          <p:cNvSpPr/>
          <p:nvPr/>
        </p:nvSpPr>
        <p:spPr>
          <a:xfrm rot="-1555898">
            <a:off x="12228267" y="5127880"/>
            <a:ext cx="1699663" cy="1699663"/>
          </a:xfrm>
          <a:custGeom>
            <a:avLst/>
            <a:gdLst/>
            <a:ahLst/>
            <a:cxnLst/>
            <a:rect l="l" t="t" r="r" b="b"/>
            <a:pathLst>
              <a:path w="1699663" h="1699663">
                <a:moveTo>
                  <a:pt x="0" y="0"/>
                </a:moveTo>
                <a:lnTo>
                  <a:pt x="1699663" y="0"/>
                </a:lnTo>
                <a:lnTo>
                  <a:pt x="1699663" y="1699663"/>
                </a:lnTo>
                <a:lnTo>
                  <a:pt x="0" y="16996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a:off x="13797994" y="5492077"/>
            <a:ext cx="1621532" cy="1621532"/>
          </a:xfrm>
          <a:custGeom>
            <a:avLst/>
            <a:gdLst/>
            <a:ahLst/>
            <a:cxnLst/>
            <a:rect l="l" t="t" r="r" b="b"/>
            <a:pathLst>
              <a:path w="1621532" h="1621532">
                <a:moveTo>
                  <a:pt x="0" y="0"/>
                </a:moveTo>
                <a:lnTo>
                  <a:pt x="1621532" y="0"/>
                </a:lnTo>
                <a:lnTo>
                  <a:pt x="1621532" y="1621532"/>
                </a:lnTo>
                <a:lnTo>
                  <a:pt x="0" y="16215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8" name="Freeform 8"/>
          <p:cNvSpPr/>
          <p:nvPr/>
        </p:nvSpPr>
        <p:spPr>
          <a:xfrm>
            <a:off x="14296377" y="5641392"/>
            <a:ext cx="624766" cy="1322902"/>
          </a:xfrm>
          <a:custGeom>
            <a:avLst/>
            <a:gdLst/>
            <a:ahLst/>
            <a:cxnLst/>
            <a:rect l="l" t="t" r="r" b="b"/>
            <a:pathLst>
              <a:path w="624766" h="1322902">
                <a:moveTo>
                  <a:pt x="0" y="0"/>
                </a:moveTo>
                <a:lnTo>
                  <a:pt x="624766" y="0"/>
                </a:lnTo>
                <a:lnTo>
                  <a:pt x="624766" y="1322902"/>
                </a:lnTo>
                <a:lnTo>
                  <a:pt x="0" y="132290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9" name="Freeform 9"/>
          <p:cNvSpPr/>
          <p:nvPr/>
        </p:nvSpPr>
        <p:spPr>
          <a:xfrm rot="1366986">
            <a:off x="15336259" y="5470537"/>
            <a:ext cx="1665532" cy="1665532"/>
          </a:xfrm>
          <a:custGeom>
            <a:avLst/>
            <a:gdLst/>
            <a:ahLst/>
            <a:cxnLst/>
            <a:rect l="l" t="t" r="r" b="b"/>
            <a:pathLst>
              <a:path w="1665532" h="1665532">
                <a:moveTo>
                  <a:pt x="0" y="0"/>
                </a:moveTo>
                <a:lnTo>
                  <a:pt x="1665532" y="0"/>
                </a:lnTo>
                <a:lnTo>
                  <a:pt x="1665532" y="1665532"/>
                </a:lnTo>
                <a:lnTo>
                  <a:pt x="0" y="166553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grpSp>
        <p:nvGrpSpPr>
          <p:cNvPr id="10" name="Group 10"/>
          <p:cNvGrpSpPr/>
          <p:nvPr/>
        </p:nvGrpSpPr>
        <p:grpSpPr>
          <a:xfrm rot="-1300646">
            <a:off x="11171661" y="6139373"/>
            <a:ext cx="1541081" cy="1541081"/>
            <a:chOff x="0" y="0"/>
            <a:chExt cx="2054774" cy="2054774"/>
          </a:xfrm>
        </p:grpSpPr>
        <p:grpSp>
          <p:nvGrpSpPr>
            <p:cNvPr id="11" name="Group 11"/>
            <p:cNvGrpSpPr/>
            <p:nvPr/>
          </p:nvGrpSpPr>
          <p:grpSpPr>
            <a:xfrm>
              <a:off x="0" y="0"/>
              <a:ext cx="2054774" cy="2054774"/>
              <a:chOff x="0" y="0"/>
              <a:chExt cx="492200" cy="492200"/>
            </a:xfrm>
          </p:grpSpPr>
          <p:sp>
            <p:nvSpPr>
              <p:cNvPr id="12" name="Freeform 12"/>
              <p:cNvSpPr/>
              <p:nvPr/>
            </p:nvSpPr>
            <p:spPr>
              <a:xfrm>
                <a:off x="0" y="0"/>
                <a:ext cx="492200" cy="492200"/>
              </a:xfrm>
              <a:custGeom>
                <a:avLst/>
                <a:gdLst/>
                <a:ahLst/>
                <a:cxnLst/>
                <a:rect l="l" t="t" r="r" b="b"/>
                <a:pathLst>
                  <a:path w="492200" h="492200">
                    <a:moveTo>
                      <a:pt x="211277" y="0"/>
                    </a:moveTo>
                    <a:lnTo>
                      <a:pt x="280923" y="0"/>
                    </a:lnTo>
                    <a:cubicBezTo>
                      <a:pt x="336957" y="0"/>
                      <a:pt x="390696" y="22259"/>
                      <a:pt x="430318" y="61881"/>
                    </a:cubicBezTo>
                    <a:cubicBezTo>
                      <a:pt x="469940" y="101503"/>
                      <a:pt x="492200" y="155243"/>
                      <a:pt x="492200" y="211277"/>
                    </a:cubicBezTo>
                    <a:lnTo>
                      <a:pt x="492200" y="280923"/>
                    </a:lnTo>
                    <a:cubicBezTo>
                      <a:pt x="492200" y="336957"/>
                      <a:pt x="469940" y="390696"/>
                      <a:pt x="430318" y="430318"/>
                    </a:cubicBezTo>
                    <a:cubicBezTo>
                      <a:pt x="390696" y="469940"/>
                      <a:pt x="336957" y="492200"/>
                      <a:pt x="280923" y="492200"/>
                    </a:cubicBezTo>
                    <a:lnTo>
                      <a:pt x="211277" y="492200"/>
                    </a:lnTo>
                    <a:cubicBezTo>
                      <a:pt x="155243" y="492200"/>
                      <a:pt x="101503" y="469940"/>
                      <a:pt x="61881" y="430318"/>
                    </a:cubicBezTo>
                    <a:cubicBezTo>
                      <a:pt x="22259" y="390696"/>
                      <a:pt x="0" y="336957"/>
                      <a:pt x="0" y="280923"/>
                    </a:cubicBezTo>
                    <a:lnTo>
                      <a:pt x="0" y="211277"/>
                    </a:lnTo>
                    <a:cubicBezTo>
                      <a:pt x="0" y="155243"/>
                      <a:pt x="22259" y="101503"/>
                      <a:pt x="61881" y="61881"/>
                    </a:cubicBezTo>
                    <a:cubicBezTo>
                      <a:pt x="101503" y="22259"/>
                      <a:pt x="155243" y="0"/>
                      <a:pt x="211277" y="0"/>
                    </a:cubicBezTo>
                    <a:close/>
                  </a:path>
                </a:pathLst>
              </a:custGeom>
              <a:solidFill>
                <a:srgbClr val="000000"/>
              </a:solidFill>
            </p:spPr>
            <p:txBody>
              <a:bodyPr/>
              <a:lstStyle/>
              <a:p>
                <a:endParaRPr lang="en-US"/>
              </a:p>
            </p:txBody>
          </p:sp>
          <p:sp>
            <p:nvSpPr>
              <p:cNvPr id="13" name="TextBox 13"/>
              <p:cNvSpPr txBox="1"/>
              <p:nvPr/>
            </p:nvSpPr>
            <p:spPr>
              <a:xfrm>
                <a:off x="0" y="-28575"/>
                <a:ext cx="492200" cy="520775"/>
              </a:xfrm>
              <a:prstGeom prst="rect">
                <a:avLst/>
              </a:prstGeom>
            </p:spPr>
            <p:txBody>
              <a:bodyPr lIns="50800" tIns="50800" rIns="50800" bIns="50800" rtlCol="0" anchor="ctr"/>
              <a:lstStyle/>
              <a:p>
                <a:pPr algn="ctr">
                  <a:lnSpc>
                    <a:spcPts val="1960"/>
                  </a:lnSpc>
                </a:pPr>
                <a:endParaRPr/>
              </a:p>
            </p:txBody>
          </p:sp>
        </p:grpSp>
        <p:sp>
          <p:nvSpPr>
            <p:cNvPr id="14" name="Freeform 14"/>
            <p:cNvSpPr/>
            <p:nvPr/>
          </p:nvSpPr>
          <p:spPr>
            <a:xfrm>
              <a:off x="369960" y="272808"/>
              <a:ext cx="1314854" cy="1509158"/>
            </a:xfrm>
            <a:custGeom>
              <a:avLst/>
              <a:gdLst/>
              <a:ahLst/>
              <a:cxnLst/>
              <a:rect l="l" t="t" r="r" b="b"/>
              <a:pathLst>
                <a:path w="1314854" h="1509158">
                  <a:moveTo>
                    <a:pt x="0" y="0"/>
                  </a:moveTo>
                  <a:lnTo>
                    <a:pt x="1314854" y="0"/>
                  </a:lnTo>
                  <a:lnTo>
                    <a:pt x="1314854" y="1509158"/>
                  </a:lnTo>
                  <a:lnTo>
                    <a:pt x="0" y="150915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grpSp>
      <p:sp>
        <p:nvSpPr>
          <p:cNvPr id="15" name="TextBox 15"/>
          <p:cNvSpPr txBox="1"/>
          <p:nvPr/>
        </p:nvSpPr>
        <p:spPr>
          <a:xfrm>
            <a:off x="1028700" y="762000"/>
            <a:ext cx="6438900" cy="1138838"/>
          </a:xfrm>
          <a:prstGeom prst="rect">
            <a:avLst/>
          </a:prstGeom>
        </p:spPr>
        <p:txBody>
          <a:bodyPr wrap="square" lIns="0" tIns="0" rIns="0" bIns="0" rtlCol="0" anchor="t">
            <a:spAutoFit/>
          </a:bodyPr>
          <a:lstStyle/>
          <a:p>
            <a:pPr marL="0" lvl="0" indent="0" algn="ctr">
              <a:lnSpc>
                <a:spcPts val="9520"/>
              </a:lnSpc>
              <a:spcBef>
                <a:spcPct val="0"/>
              </a:spcBef>
            </a:pPr>
            <a:r>
              <a:rPr lang="en-US" sz="6800" b="1" dirty="0">
                <a:solidFill>
                  <a:schemeClr val="bg1"/>
                </a:solidFill>
                <a:latin typeface="Canva Sans Bold" panose="020B0604020202020204" charset="0"/>
                <a:ea typeface="Arial Bold"/>
                <a:cs typeface="Arial Bold"/>
                <a:sym typeface="Arial Bold"/>
              </a:rPr>
              <a:t>OBJECTIVES</a:t>
            </a:r>
          </a:p>
        </p:txBody>
      </p:sp>
      <p:sp>
        <p:nvSpPr>
          <p:cNvPr id="16" name="TextBox 16"/>
          <p:cNvSpPr txBox="1"/>
          <p:nvPr/>
        </p:nvSpPr>
        <p:spPr>
          <a:xfrm>
            <a:off x="1028700" y="2434121"/>
            <a:ext cx="8115300" cy="7630550"/>
          </a:xfrm>
          <a:prstGeom prst="rect">
            <a:avLst/>
          </a:prstGeom>
        </p:spPr>
        <p:txBody>
          <a:bodyPr lIns="0" tIns="0" rIns="0" bIns="0" rtlCol="0" anchor="t">
            <a:spAutoFit/>
          </a:bodyPr>
          <a:lstStyle/>
          <a:p>
            <a:pPr marL="813435" lvl="1" indent="-457200">
              <a:lnSpc>
                <a:spcPts val="4620"/>
              </a:lnSpc>
              <a:buFont typeface="Wingdings" panose="05000000000000000000" pitchFamily="2" charset="2"/>
              <a:buChar char="Ø"/>
            </a:pPr>
            <a:r>
              <a:rPr lang="en-US" sz="3300" dirty="0">
                <a:solidFill>
                  <a:srgbClr val="000000"/>
                </a:solidFill>
                <a:latin typeface="Canva Sans Bold"/>
                <a:ea typeface="Canva Sans Bold"/>
                <a:cs typeface="Canva Sans Bold"/>
                <a:sym typeface="Canva Sans Bold"/>
              </a:rPr>
              <a:t>Identify Key Motives for Social Media Usage.</a:t>
            </a:r>
          </a:p>
          <a:p>
            <a:pPr marL="813435" lvl="1" indent="-457200">
              <a:lnSpc>
                <a:spcPts val="4620"/>
              </a:lnSpc>
              <a:buFont typeface="Wingdings" panose="05000000000000000000" pitchFamily="2" charset="2"/>
              <a:buChar char="Ø"/>
            </a:pPr>
            <a:endParaRPr lang="en-US" sz="3300" dirty="0">
              <a:solidFill>
                <a:srgbClr val="000000"/>
              </a:solidFill>
              <a:latin typeface="Canva Sans Bold"/>
              <a:ea typeface="Canva Sans Bold"/>
              <a:cs typeface="Canva Sans Bold"/>
              <a:sym typeface="Canva Sans Bold"/>
            </a:endParaRPr>
          </a:p>
          <a:p>
            <a:pPr marL="813435" lvl="1" indent="-457200">
              <a:lnSpc>
                <a:spcPts val="4620"/>
              </a:lnSpc>
              <a:buFont typeface="Wingdings" panose="05000000000000000000" pitchFamily="2" charset="2"/>
              <a:buChar char="Ø"/>
            </a:pPr>
            <a:r>
              <a:rPr lang="en-US" sz="3300" dirty="0">
                <a:solidFill>
                  <a:srgbClr val="000000"/>
                </a:solidFill>
                <a:latin typeface="Canva Sans Bold"/>
                <a:ea typeface="Canva Sans Bold"/>
                <a:cs typeface="Canva Sans Bold"/>
                <a:sym typeface="Canva Sans Bold"/>
              </a:rPr>
              <a:t>Explore Content Preferences Across Genders.</a:t>
            </a:r>
          </a:p>
          <a:p>
            <a:pPr marL="813435" lvl="1" indent="-457200">
              <a:lnSpc>
                <a:spcPts val="4620"/>
              </a:lnSpc>
              <a:buFont typeface="Wingdings" panose="05000000000000000000" pitchFamily="2" charset="2"/>
              <a:buChar char="Ø"/>
            </a:pPr>
            <a:endParaRPr lang="en-US" sz="3300" dirty="0">
              <a:solidFill>
                <a:srgbClr val="000000"/>
              </a:solidFill>
              <a:latin typeface="Canva Sans Bold"/>
              <a:ea typeface="Canva Sans Bold"/>
              <a:cs typeface="Canva Sans Bold"/>
              <a:sym typeface="Canva Sans Bold"/>
            </a:endParaRPr>
          </a:p>
          <a:p>
            <a:pPr marL="813435" lvl="1" indent="-457200">
              <a:lnSpc>
                <a:spcPts val="4620"/>
              </a:lnSpc>
              <a:buFont typeface="Wingdings" panose="05000000000000000000" pitchFamily="2" charset="2"/>
              <a:buChar char="Ø"/>
            </a:pPr>
            <a:r>
              <a:rPr lang="en-US" sz="3300" dirty="0">
                <a:solidFill>
                  <a:srgbClr val="000000"/>
                </a:solidFill>
                <a:latin typeface="Canva Sans Bold"/>
                <a:ea typeface="Canva Sans Bold"/>
                <a:cs typeface="Canva Sans Bold"/>
                <a:sym typeface="Canva Sans Bold"/>
              </a:rPr>
              <a:t>Provide Insights for Targeted Marketing</a:t>
            </a:r>
          </a:p>
          <a:p>
            <a:pPr algn="l">
              <a:lnSpc>
                <a:spcPts val="4620"/>
              </a:lnSpc>
            </a:pPr>
            <a:endParaRPr lang="en-US" sz="3300" b="1" dirty="0">
              <a:solidFill>
                <a:srgbClr val="000000"/>
              </a:solidFill>
              <a:latin typeface="Canva Sans Bold"/>
              <a:ea typeface="Canva Sans Bold"/>
              <a:cs typeface="Canva Sans Bold"/>
              <a:sym typeface="Canva Sans Bold"/>
            </a:endParaRPr>
          </a:p>
          <a:p>
            <a:pPr algn="l">
              <a:lnSpc>
                <a:spcPts val="4620"/>
              </a:lnSpc>
            </a:pPr>
            <a:endParaRPr lang="en-US" sz="3300" b="1" dirty="0">
              <a:solidFill>
                <a:srgbClr val="000000"/>
              </a:solidFill>
              <a:latin typeface="Canva Sans Bold"/>
              <a:ea typeface="Canva Sans Bold"/>
              <a:cs typeface="Canva Sans Bold"/>
              <a:sym typeface="Canva Sans Bold"/>
            </a:endParaRPr>
          </a:p>
          <a:p>
            <a:pPr algn="l">
              <a:lnSpc>
                <a:spcPts val="4620"/>
              </a:lnSpc>
            </a:pPr>
            <a:endParaRPr lang="en-US" sz="3300" b="1" dirty="0">
              <a:solidFill>
                <a:srgbClr val="000000"/>
              </a:solidFill>
              <a:latin typeface="Canva Sans Bold"/>
              <a:ea typeface="Canva Sans Bold"/>
              <a:cs typeface="Canva Sans Bold"/>
              <a:sym typeface="Canva Sans Bold"/>
            </a:endParaRPr>
          </a:p>
          <a:p>
            <a:pPr algn="l">
              <a:lnSpc>
                <a:spcPts val="4620"/>
              </a:lnSpc>
            </a:pPr>
            <a:endParaRPr lang="en-US" sz="3300" b="1" dirty="0">
              <a:solidFill>
                <a:srgbClr val="000000"/>
              </a:solidFill>
              <a:latin typeface="Canva Sans Bold"/>
              <a:ea typeface="Canva Sans Bold"/>
              <a:cs typeface="Canva Sans Bold"/>
              <a:sym typeface="Canva Sans Bold"/>
            </a:endParaRPr>
          </a:p>
          <a:p>
            <a:pPr marL="0" lvl="0" indent="0" algn="l">
              <a:lnSpc>
                <a:spcPts val="4620"/>
              </a:lnSpc>
              <a:spcBef>
                <a:spcPct val="0"/>
              </a:spcBef>
            </a:pPr>
            <a:endParaRPr lang="en-US" sz="3300" b="1" dirty="0">
              <a:solidFill>
                <a:srgbClr val="000000"/>
              </a:solidFill>
              <a:latin typeface="Canva Sans Bold"/>
              <a:ea typeface="Canva Sans Bold"/>
              <a:cs typeface="Canva Sans Bold"/>
              <a:sym typeface="Canva Sans Bold"/>
            </a:endParaRPr>
          </a:p>
        </p:txBody>
      </p:sp>
      <p:grpSp>
        <p:nvGrpSpPr>
          <p:cNvPr id="17" name="Group 17"/>
          <p:cNvGrpSpPr/>
          <p:nvPr/>
        </p:nvGrpSpPr>
        <p:grpSpPr>
          <a:xfrm>
            <a:off x="15745927" y="9309579"/>
            <a:ext cx="2395124" cy="977421"/>
            <a:chOff x="0" y="0"/>
            <a:chExt cx="708594" cy="289169"/>
          </a:xfrm>
        </p:grpSpPr>
        <p:sp>
          <p:nvSpPr>
            <p:cNvPr id="18" name="Freeform 18"/>
            <p:cNvSpPr/>
            <p:nvPr/>
          </p:nvSpPr>
          <p:spPr>
            <a:xfrm>
              <a:off x="0" y="0"/>
              <a:ext cx="708594" cy="289169"/>
            </a:xfrm>
            <a:custGeom>
              <a:avLst/>
              <a:gdLst/>
              <a:ahLst/>
              <a:cxnLst/>
              <a:rect l="l" t="t" r="r" b="b"/>
              <a:pathLst>
                <a:path w="708594" h="289169">
                  <a:moveTo>
                    <a:pt x="505394" y="0"/>
                  </a:moveTo>
                  <a:lnTo>
                    <a:pt x="0" y="0"/>
                  </a:lnTo>
                  <a:lnTo>
                    <a:pt x="0" y="289169"/>
                  </a:lnTo>
                  <a:lnTo>
                    <a:pt x="505394" y="289169"/>
                  </a:lnTo>
                  <a:lnTo>
                    <a:pt x="708594" y="144584"/>
                  </a:lnTo>
                  <a:lnTo>
                    <a:pt x="505394" y="0"/>
                  </a:lnTo>
                  <a:close/>
                </a:path>
              </a:pathLst>
            </a:custGeom>
            <a:solidFill>
              <a:srgbClr val="B1C9EB"/>
            </a:solidFill>
          </p:spPr>
          <p:txBody>
            <a:bodyPr/>
            <a:lstStyle/>
            <a:p>
              <a:endParaRPr lang="en-US"/>
            </a:p>
          </p:txBody>
        </p:sp>
        <p:sp>
          <p:nvSpPr>
            <p:cNvPr id="19" name="TextBox 19"/>
            <p:cNvSpPr txBox="1"/>
            <p:nvPr/>
          </p:nvSpPr>
          <p:spPr>
            <a:xfrm>
              <a:off x="0" y="-28575"/>
              <a:ext cx="594294" cy="317744"/>
            </a:xfrm>
            <a:prstGeom prst="rect">
              <a:avLst/>
            </a:prstGeom>
          </p:spPr>
          <p:txBody>
            <a:bodyPr lIns="50800" tIns="50800" rIns="50800" bIns="50800" rtlCol="0" anchor="ctr"/>
            <a:lstStyle/>
            <a:p>
              <a:pPr algn="ctr">
                <a:lnSpc>
                  <a:spcPts val="2376"/>
                </a:lnSpc>
              </a:pPr>
              <a:endParaRPr/>
            </a:p>
          </p:txBody>
        </p:sp>
      </p:grpSp>
      <p:sp>
        <p:nvSpPr>
          <p:cNvPr id="20" name="TextBox 20"/>
          <p:cNvSpPr txBox="1"/>
          <p:nvPr/>
        </p:nvSpPr>
        <p:spPr>
          <a:xfrm>
            <a:off x="15848354" y="9468271"/>
            <a:ext cx="1862305" cy="572593"/>
          </a:xfrm>
          <a:prstGeom prst="rect">
            <a:avLst/>
          </a:prstGeom>
        </p:spPr>
        <p:txBody>
          <a:bodyPr lIns="0" tIns="0" rIns="0" bIns="0" rtlCol="0" anchor="t">
            <a:spAutoFit/>
          </a:bodyPr>
          <a:lstStyle/>
          <a:p>
            <a:pPr algn="ctr">
              <a:lnSpc>
                <a:spcPts val="4736"/>
              </a:lnSpc>
            </a:pPr>
            <a:r>
              <a:rPr lang="en-US" sz="3382" dirty="0">
                <a:solidFill>
                  <a:srgbClr val="FFFFFF"/>
                </a:solidFill>
                <a:latin typeface="Archivo Black"/>
                <a:ea typeface="Archivo Black"/>
                <a:cs typeface="Archivo Black"/>
                <a:sym typeface="Archivo Black"/>
              </a:rPr>
              <a:t>page 03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8865"/>
            <a:ext cx="18551842" cy="12383354"/>
          </a:xfrm>
          <a:custGeom>
            <a:avLst/>
            <a:gdLst/>
            <a:ahLst/>
            <a:cxnLst/>
            <a:rect l="l" t="t" r="r" b="b"/>
            <a:pathLst>
              <a:path w="18551842" h="12383354">
                <a:moveTo>
                  <a:pt x="0" y="0"/>
                </a:moveTo>
                <a:lnTo>
                  <a:pt x="18551842" y="0"/>
                </a:lnTo>
                <a:lnTo>
                  <a:pt x="18551842" y="12383355"/>
                </a:lnTo>
                <a:lnTo>
                  <a:pt x="0" y="12383355"/>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1322310"/>
            <a:ext cx="8561423" cy="1676934"/>
          </a:xfrm>
          <a:prstGeom prst="rect">
            <a:avLst/>
          </a:prstGeom>
        </p:spPr>
        <p:txBody>
          <a:bodyPr lIns="0" tIns="0" rIns="0" bIns="0" rtlCol="0" anchor="t">
            <a:spAutoFit/>
          </a:bodyPr>
          <a:lstStyle/>
          <a:p>
            <a:pPr algn="ctr">
              <a:lnSpc>
                <a:spcPts val="13973"/>
              </a:lnSpc>
            </a:pPr>
            <a:r>
              <a:rPr lang="en-US" sz="9981" b="1" dirty="0">
                <a:solidFill>
                  <a:srgbClr val="FFFFFF"/>
                </a:solidFill>
                <a:latin typeface="Canva Sans Bold" panose="020B0604020202020204" charset="0"/>
                <a:ea typeface="Arial Bold"/>
                <a:cs typeface="Arial Bold"/>
                <a:sym typeface="Arial Bold"/>
              </a:rPr>
              <a:t>ANALYSIS</a:t>
            </a:r>
          </a:p>
        </p:txBody>
      </p:sp>
      <p:grpSp>
        <p:nvGrpSpPr>
          <p:cNvPr id="4" name="Group 4"/>
          <p:cNvGrpSpPr/>
          <p:nvPr/>
        </p:nvGrpSpPr>
        <p:grpSpPr>
          <a:xfrm>
            <a:off x="15745927" y="9309579"/>
            <a:ext cx="2395124" cy="977421"/>
            <a:chOff x="0" y="0"/>
            <a:chExt cx="708594" cy="289169"/>
          </a:xfrm>
        </p:grpSpPr>
        <p:sp>
          <p:nvSpPr>
            <p:cNvPr id="5" name="Freeform 5"/>
            <p:cNvSpPr/>
            <p:nvPr/>
          </p:nvSpPr>
          <p:spPr>
            <a:xfrm>
              <a:off x="0" y="0"/>
              <a:ext cx="708594" cy="289169"/>
            </a:xfrm>
            <a:custGeom>
              <a:avLst/>
              <a:gdLst/>
              <a:ahLst/>
              <a:cxnLst/>
              <a:rect l="l" t="t" r="r" b="b"/>
              <a:pathLst>
                <a:path w="708594" h="289169">
                  <a:moveTo>
                    <a:pt x="505394" y="0"/>
                  </a:moveTo>
                  <a:lnTo>
                    <a:pt x="0" y="0"/>
                  </a:lnTo>
                  <a:lnTo>
                    <a:pt x="0" y="289169"/>
                  </a:lnTo>
                  <a:lnTo>
                    <a:pt x="505394" y="289169"/>
                  </a:lnTo>
                  <a:lnTo>
                    <a:pt x="708594" y="144584"/>
                  </a:lnTo>
                  <a:lnTo>
                    <a:pt x="505394" y="0"/>
                  </a:lnTo>
                  <a:close/>
                </a:path>
              </a:pathLst>
            </a:custGeom>
            <a:solidFill>
              <a:srgbClr val="B1C9EB"/>
            </a:solidFill>
          </p:spPr>
          <p:txBody>
            <a:bodyPr/>
            <a:lstStyle/>
            <a:p>
              <a:endParaRPr lang="en-US"/>
            </a:p>
          </p:txBody>
        </p:sp>
        <p:sp>
          <p:nvSpPr>
            <p:cNvPr id="6" name="TextBox 6"/>
            <p:cNvSpPr txBox="1"/>
            <p:nvPr/>
          </p:nvSpPr>
          <p:spPr>
            <a:xfrm>
              <a:off x="0" y="-28575"/>
              <a:ext cx="594294" cy="317744"/>
            </a:xfrm>
            <a:prstGeom prst="rect">
              <a:avLst/>
            </a:prstGeom>
          </p:spPr>
          <p:txBody>
            <a:bodyPr lIns="50800" tIns="50800" rIns="50800" bIns="50800" rtlCol="0" anchor="ctr"/>
            <a:lstStyle/>
            <a:p>
              <a:pPr algn="ctr">
                <a:lnSpc>
                  <a:spcPts val="2376"/>
                </a:lnSpc>
              </a:pPr>
              <a:endParaRPr/>
            </a:p>
          </p:txBody>
        </p:sp>
      </p:grpSp>
      <p:sp>
        <p:nvSpPr>
          <p:cNvPr id="7" name="TextBox 7"/>
          <p:cNvSpPr txBox="1"/>
          <p:nvPr/>
        </p:nvSpPr>
        <p:spPr>
          <a:xfrm>
            <a:off x="15848354" y="9468271"/>
            <a:ext cx="1862305" cy="583838"/>
          </a:xfrm>
          <a:prstGeom prst="rect">
            <a:avLst/>
          </a:prstGeom>
        </p:spPr>
        <p:txBody>
          <a:bodyPr lIns="0" tIns="0" rIns="0" bIns="0" rtlCol="0" anchor="t">
            <a:spAutoFit/>
          </a:bodyPr>
          <a:lstStyle/>
          <a:p>
            <a:pPr algn="ctr">
              <a:lnSpc>
                <a:spcPts val="4736"/>
              </a:lnSpc>
            </a:pPr>
            <a:r>
              <a:rPr lang="en-US" sz="3382">
                <a:solidFill>
                  <a:srgbClr val="FFFFFF"/>
                </a:solidFill>
                <a:latin typeface="Archivo Black"/>
                <a:ea typeface="Archivo Black"/>
                <a:cs typeface="Archivo Black"/>
                <a:sym typeface="Archivo Black"/>
              </a:rPr>
              <a:t>page 04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F7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4325371" y="1181207"/>
            <a:ext cx="9435182" cy="9297712"/>
          </a:xfrm>
          <a:prstGeom prst="rect">
            <a:avLst/>
          </a:prstGeom>
        </p:spPr>
      </p:pic>
      <p:sp>
        <p:nvSpPr>
          <p:cNvPr id="3" name="Freeform 3"/>
          <p:cNvSpPr/>
          <p:nvPr/>
        </p:nvSpPr>
        <p:spPr>
          <a:xfrm>
            <a:off x="0" y="7563433"/>
            <a:ext cx="4325371" cy="2946659"/>
          </a:xfrm>
          <a:custGeom>
            <a:avLst/>
            <a:gdLst/>
            <a:ahLst/>
            <a:cxnLst/>
            <a:rect l="l" t="t" r="r" b="b"/>
            <a:pathLst>
              <a:path w="4325371" h="2946659">
                <a:moveTo>
                  <a:pt x="0" y="0"/>
                </a:moveTo>
                <a:lnTo>
                  <a:pt x="4325371" y="0"/>
                </a:lnTo>
                <a:lnTo>
                  <a:pt x="4325371" y="2946659"/>
                </a:lnTo>
                <a:lnTo>
                  <a:pt x="0" y="2946659"/>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15745927" y="9309579"/>
            <a:ext cx="2395124" cy="977421"/>
            <a:chOff x="0" y="0"/>
            <a:chExt cx="708594" cy="289169"/>
          </a:xfrm>
        </p:grpSpPr>
        <p:sp>
          <p:nvSpPr>
            <p:cNvPr id="5" name="Freeform 5"/>
            <p:cNvSpPr/>
            <p:nvPr/>
          </p:nvSpPr>
          <p:spPr>
            <a:xfrm>
              <a:off x="0" y="0"/>
              <a:ext cx="708594" cy="289169"/>
            </a:xfrm>
            <a:custGeom>
              <a:avLst/>
              <a:gdLst/>
              <a:ahLst/>
              <a:cxnLst/>
              <a:rect l="l" t="t" r="r" b="b"/>
              <a:pathLst>
                <a:path w="708594" h="289169">
                  <a:moveTo>
                    <a:pt x="505394" y="0"/>
                  </a:moveTo>
                  <a:lnTo>
                    <a:pt x="0" y="0"/>
                  </a:lnTo>
                  <a:lnTo>
                    <a:pt x="0" y="289169"/>
                  </a:lnTo>
                  <a:lnTo>
                    <a:pt x="505394" y="289169"/>
                  </a:lnTo>
                  <a:lnTo>
                    <a:pt x="708594" y="144584"/>
                  </a:lnTo>
                  <a:lnTo>
                    <a:pt x="505394" y="0"/>
                  </a:lnTo>
                  <a:close/>
                </a:path>
              </a:pathLst>
            </a:custGeom>
            <a:solidFill>
              <a:srgbClr val="B1C9EB"/>
            </a:solidFill>
          </p:spPr>
          <p:txBody>
            <a:bodyPr/>
            <a:lstStyle/>
            <a:p>
              <a:endParaRPr lang="en-US"/>
            </a:p>
          </p:txBody>
        </p:sp>
        <p:sp>
          <p:nvSpPr>
            <p:cNvPr id="6" name="TextBox 6"/>
            <p:cNvSpPr txBox="1"/>
            <p:nvPr/>
          </p:nvSpPr>
          <p:spPr>
            <a:xfrm>
              <a:off x="0" y="-28575"/>
              <a:ext cx="594294" cy="317744"/>
            </a:xfrm>
            <a:prstGeom prst="rect">
              <a:avLst/>
            </a:prstGeom>
          </p:spPr>
          <p:txBody>
            <a:bodyPr lIns="50800" tIns="50800" rIns="50800" bIns="50800" rtlCol="0" anchor="ctr"/>
            <a:lstStyle/>
            <a:p>
              <a:pPr algn="ctr">
                <a:lnSpc>
                  <a:spcPts val="2376"/>
                </a:lnSpc>
              </a:pPr>
              <a:endParaRPr/>
            </a:p>
          </p:txBody>
        </p:sp>
      </p:grpSp>
      <p:sp>
        <p:nvSpPr>
          <p:cNvPr id="8" name="TextBox 8"/>
          <p:cNvSpPr txBox="1"/>
          <p:nvPr/>
        </p:nvSpPr>
        <p:spPr>
          <a:xfrm>
            <a:off x="15848354" y="9468271"/>
            <a:ext cx="1862305" cy="583838"/>
          </a:xfrm>
          <a:prstGeom prst="rect">
            <a:avLst/>
          </a:prstGeom>
        </p:spPr>
        <p:txBody>
          <a:bodyPr lIns="0" tIns="0" rIns="0" bIns="0" rtlCol="0" anchor="t">
            <a:spAutoFit/>
          </a:bodyPr>
          <a:lstStyle/>
          <a:p>
            <a:pPr algn="ctr">
              <a:lnSpc>
                <a:spcPts val="4736"/>
              </a:lnSpc>
            </a:pPr>
            <a:r>
              <a:rPr lang="en-US" sz="3382">
                <a:solidFill>
                  <a:srgbClr val="FFFFFF"/>
                </a:solidFill>
                <a:latin typeface="Archivo Black"/>
                <a:ea typeface="Archivo Black"/>
                <a:cs typeface="Archivo Black"/>
                <a:sym typeface="Archivo Black"/>
              </a:rPr>
              <a:t>page 05</a:t>
            </a:r>
          </a:p>
        </p:txBody>
      </p:sp>
      <p:sp>
        <p:nvSpPr>
          <p:cNvPr id="9" name="TextBox 9"/>
          <p:cNvSpPr txBox="1"/>
          <p:nvPr/>
        </p:nvSpPr>
        <p:spPr>
          <a:xfrm>
            <a:off x="3124200" y="555625"/>
            <a:ext cx="12401372" cy="807913"/>
          </a:xfrm>
          <a:prstGeom prst="rect">
            <a:avLst/>
          </a:prstGeom>
        </p:spPr>
        <p:txBody>
          <a:bodyPr wrap="square" lIns="0" tIns="0" rIns="0" bIns="0" rtlCol="0" anchor="t">
            <a:spAutoFit/>
          </a:bodyPr>
          <a:lstStyle/>
          <a:p>
            <a:pPr algn="ctr">
              <a:lnSpc>
                <a:spcPts val="6299"/>
              </a:lnSpc>
            </a:pPr>
            <a:r>
              <a:rPr lang="en-US" sz="5600" b="1" dirty="0">
                <a:solidFill>
                  <a:schemeClr val="tx2">
                    <a:lumMod val="75000"/>
                  </a:schemeClr>
                </a:solidFill>
                <a:latin typeface="Canva Sans Bold" panose="020B0604020202020204" charset="0"/>
                <a:ea typeface="Arial Bold"/>
                <a:cs typeface="Arial Bold"/>
                <a:sym typeface="Arial Bold"/>
              </a:rPr>
              <a:t>Reasons for using social media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1DDED"/>
        </a:solidFill>
        <a:effectLst/>
      </p:bgPr>
    </p:bg>
    <p:spTree>
      <p:nvGrpSpPr>
        <p:cNvPr id="1" name=""/>
        <p:cNvGrpSpPr/>
        <p:nvPr/>
      </p:nvGrpSpPr>
      <p:grpSpPr>
        <a:xfrm>
          <a:off x="0" y="0"/>
          <a:ext cx="0" cy="0"/>
          <a:chOff x="0" y="0"/>
          <a:chExt cx="0" cy="0"/>
        </a:xfrm>
      </p:grpSpPr>
      <p:sp>
        <p:nvSpPr>
          <p:cNvPr id="10" name="Freeform 10"/>
          <p:cNvSpPr/>
          <p:nvPr/>
        </p:nvSpPr>
        <p:spPr>
          <a:xfrm>
            <a:off x="16572905" y="2437577"/>
            <a:ext cx="1621531" cy="1621531"/>
          </a:xfrm>
          <a:custGeom>
            <a:avLst/>
            <a:gdLst/>
            <a:ahLst/>
            <a:cxnLst/>
            <a:rect l="l" t="t" r="r" b="b"/>
            <a:pathLst>
              <a:path w="1665532" h="1665532">
                <a:moveTo>
                  <a:pt x="0" y="0"/>
                </a:moveTo>
                <a:lnTo>
                  <a:pt x="1665532" y="0"/>
                </a:lnTo>
                <a:lnTo>
                  <a:pt x="1665532" y="1665533"/>
                </a:lnTo>
                <a:lnTo>
                  <a:pt x="0" y="16655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5415850" y="7393687"/>
            <a:ext cx="1584415" cy="1584415"/>
            <a:chOff x="0" y="0"/>
            <a:chExt cx="2162043" cy="2162043"/>
          </a:xfrm>
        </p:grpSpPr>
        <p:sp>
          <p:nvSpPr>
            <p:cNvPr id="4" name="Freeform 4"/>
            <p:cNvSpPr/>
            <p:nvPr/>
          </p:nvSpPr>
          <p:spPr>
            <a:xfrm>
              <a:off x="0" y="0"/>
              <a:ext cx="2162043" cy="2162043"/>
            </a:xfrm>
            <a:custGeom>
              <a:avLst/>
              <a:gdLst/>
              <a:ahLst/>
              <a:cxnLst/>
              <a:rect l="l" t="t" r="r" b="b"/>
              <a:pathLst>
                <a:path w="2162043" h="2162043">
                  <a:moveTo>
                    <a:pt x="0" y="0"/>
                  </a:moveTo>
                  <a:lnTo>
                    <a:pt x="2162043" y="0"/>
                  </a:lnTo>
                  <a:lnTo>
                    <a:pt x="2162043" y="2162043"/>
                  </a:lnTo>
                  <a:lnTo>
                    <a:pt x="0" y="21620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611210" y="86711"/>
              <a:ext cx="939623" cy="1988621"/>
            </a:xfrm>
            <a:custGeom>
              <a:avLst/>
              <a:gdLst/>
              <a:ahLst/>
              <a:cxnLst/>
              <a:rect l="l" t="t" r="r" b="b"/>
              <a:pathLst>
                <a:path w="939623" h="1988621">
                  <a:moveTo>
                    <a:pt x="0" y="0"/>
                  </a:moveTo>
                  <a:lnTo>
                    <a:pt x="939623" y="0"/>
                  </a:lnTo>
                  <a:lnTo>
                    <a:pt x="939623" y="1988621"/>
                  </a:lnTo>
                  <a:lnTo>
                    <a:pt x="0" y="19886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grpSp>
        <p:nvGrpSpPr>
          <p:cNvPr id="6" name="Group 6"/>
          <p:cNvGrpSpPr/>
          <p:nvPr/>
        </p:nvGrpSpPr>
        <p:grpSpPr>
          <a:xfrm>
            <a:off x="14715634" y="4402611"/>
            <a:ext cx="1350490" cy="1350490"/>
            <a:chOff x="0" y="0"/>
            <a:chExt cx="2685374" cy="2685374"/>
          </a:xfrm>
        </p:grpSpPr>
        <p:sp>
          <p:nvSpPr>
            <p:cNvPr id="7" name="Freeform 7"/>
            <p:cNvSpPr/>
            <p:nvPr/>
          </p:nvSpPr>
          <p:spPr>
            <a:xfrm>
              <a:off x="0" y="0"/>
              <a:ext cx="2685374" cy="2685374"/>
            </a:xfrm>
            <a:custGeom>
              <a:avLst/>
              <a:gdLst/>
              <a:ahLst/>
              <a:cxnLst/>
              <a:rect l="l" t="t" r="r" b="b"/>
              <a:pathLst>
                <a:path w="2685374" h="2685374">
                  <a:moveTo>
                    <a:pt x="0" y="0"/>
                  </a:moveTo>
                  <a:lnTo>
                    <a:pt x="2685374" y="0"/>
                  </a:lnTo>
                  <a:lnTo>
                    <a:pt x="2685374" y="2685374"/>
                  </a:lnTo>
                  <a:lnTo>
                    <a:pt x="0" y="2685374"/>
                  </a:lnTo>
                  <a:lnTo>
                    <a:pt x="0" y="0"/>
                  </a:lnTo>
                  <a:close/>
                </a:path>
              </a:pathLst>
            </a:custGeom>
            <a:blipFill>
              <a:blip r:embed="rId8"/>
              <a:stretch>
                <a:fillRect/>
              </a:stretch>
            </a:blipFill>
          </p:spPr>
          <p:txBody>
            <a:bodyPr/>
            <a:lstStyle/>
            <a:p>
              <a:endParaRPr lang="en-US"/>
            </a:p>
          </p:txBody>
        </p:sp>
        <p:sp>
          <p:nvSpPr>
            <p:cNvPr id="8" name="Freeform 8"/>
            <p:cNvSpPr/>
            <p:nvPr/>
          </p:nvSpPr>
          <p:spPr>
            <a:xfrm>
              <a:off x="451260" y="329808"/>
              <a:ext cx="1878844" cy="2156492"/>
            </a:xfrm>
            <a:custGeom>
              <a:avLst/>
              <a:gdLst/>
              <a:ahLst/>
              <a:cxnLst/>
              <a:rect l="l" t="t" r="r" b="b"/>
              <a:pathLst>
                <a:path w="1878844" h="2156492">
                  <a:moveTo>
                    <a:pt x="0" y="0"/>
                  </a:moveTo>
                  <a:lnTo>
                    <a:pt x="1878843" y="0"/>
                  </a:lnTo>
                  <a:lnTo>
                    <a:pt x="1878843" y="2156492"/>
                  </a:lnTo>
                  <a:lnTo>
                    <a:pt x="0" y="21564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grpSp>
      <p:sp>
        <p:nvSpPr>
          <p:cNvPr id="9" name="Freeform 9"/>
          <p:cNvSpPr/>
          <p:nvPr/>
        </p:nvSpPr>
        <p:spPr>
          <a:xfrm>
            <a:off x="15691485" y="3695700"/>
            <a:ext cx="2401110" cy="4355756"/>
          </a:xfrm>
          <a:custGeom>
            <a:avLst/>
            <a:gdLst/>
            <a:ahLst/>
            <a:cxnLst/>
            <a:rect l="l" t="t" r="r" b="b"/>
            <a:pathLst>
              <a:path w="2454827" h="4453201">
                <a:moveTo>
                  <a:pt x="0" y="0"/>
                </a:moveTo>
                <a:lnTo>
                  <a:pt x="2454827" y="0"/>
                </a:lnTo>
                <a:lnTo>
                  <a:pt x="2454827" y="4453202"/>
                </a:lnTo>
                <a:lnTo>
                  <a:pt x="0" y="44532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1" name="Freeform 11"/>
          <p:cNvSpPr/>
          <p:nvPr/>
        </p:nvSpPr>
        <p:spPr>
          <a:xfrm>
            <a:off x="14857726" y="1409095"/>
            <a:ext cx="1699663" cy="1699663"/>
          </a:xfrm>
          <a:custGeom>
            <a:avLst/>
            <a:gdLst/>
            <a:ahLst/>
            <a:cxnLst/>
            <a:rect l="l" t="t" r="r" b="b"/>
            <a:pathLst>
              <a:path w="1699663" h="1699663">
                <a:moveTo>
                  <a:pt x="0" y="0"/>
                </a:moveTo>
                <a:lnTo>
                  <a:pt x="1699663" y="0"/>
                </a:lnTo>
                <a:lnTo>
                  <a:pt x="1699663" y="1699663"/>
                </a:lnTo>
                <a:lnTo>
                  <a:pt x="0" y="169966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2" name="TextBox 12"/>
          <p:cNvSpPr txBox="1"/>
          <p:nvPr/>
        </p:nvSpPr>
        <p:spPr>
          <a:xfrm>
            <a:off x="1425464" y="449077"/>
            <a:ext cx="15466576" cy="818942"/>
          </a:xfrm>
          <a:prstGeom prst="rect">
            <a:avLst/>
          </a:prstGeom>
        </p:spPr>
        <p:txBody>
          <a:bodyPr lIns="0" tIns="0" rIns="0" bIns="0" rtlCol="0" anchor="t">
            <a:spAutoFit/>
          </a:bodyPr>
          <a:lstStyle/>
          <a:p>
            <a:pPr algn="ctr">
              <a:lnSpc>
                <a:spcPts val="6999"/>
              </a:lnSpc>
            </a:pPr>
            <a:r>
              <a:rPr lang="en-US" sz="4400" b="1" dirty="0">
                <a:solidFill>
                  <a:srgbClr val="000000"/>
                </a:solidFill>
                <a:latin typeface="Canva Sans Bold" panose="020B0604020202020204" charset="0"/>
                <a:ea typeface="Arial Bold"/>
                <a:cs typeface="Arial Bold"/>
                <a:sym typeface="Arial Bold"/>
              </a:rPr>
              <a:t>Most popular social media platforms among the genders </a:t>
            </a:r>
          </a:p>
        </p:txBody>
      </p:sp>
      <p:grpSp>
        <p:nvGrpSpPr>
          <p:cNvPr id="13" name="Group 13"/>
          <p:cNvGrpSpPr/>
          <p:nvPr/>
        </p:nvGrpSpPr>
        <p:grpSpPr>
          <a:xfrm>
            <a:off x="15745927" y="9309579"/>
            <a:ext cx="2395124" cy="977421"/>
            <a:chOff x="0" y="0"/>
            <a:chExt cx="708594" cy="289169"/>
          </a:xfrm>
        </p:grpSpPr>
        <p:sp>
          <p:nvSpPr>
            <p:cNvPr id="14" name="Freeform 14"/>
            <p:cNvSpPr/>
            <p:nvPr/>
          </p:nvSpPr>
          <p:spPr>
            <a:xfrm>
              <a:off x="0" y="0"/>
              <a:ext cx="708594" cy="289169"/>
            </a:xfrm>
            <a:custGeom>
              <a:avLst/>
              <a:gdLst/>
              <a:ahLst/>
              <a:cxnLst/>
              <a:rect l="l" t="t" r="r" b="b"/>
              <a:pathLst>
                <a:path w="708594" h="289169">
                  <a:moveTo>
                    <a:pt x="505394" y="0"/>
                  </a:moveTo>
                  <a:lnTo>
                    <a:pt x="0" y="0"/>
                  </a:lnTo>
                  <a:lnTo>
                    <a:pt x="0" y="289169"/>
                  </a:lnTo>
                  <a:lnTo>
                    <a:pt x="505394" y="289169"/>
                  </a:lnTo>
                  <a:lnTo>
                    <a:pt x="708594" y="144584"/>
                  </a:lnTo>
                  <a:lnTo>
                    <a:pt x="505394" y="0"/>
                  </a:lnTo>
                  <a:close/>
                </a:path>
              </a:pathLst>
            </a:custGeom>
            <a:solidFill>
              <a:srgbClr val="B1C9EB"/>
            </a:solidFill>
          </p:spPr>
          <p:txBody>
            <a:bodyPr/>
            <a:lstStyle/>
            <a:p>
              <a:endParaRPr lang="en-US"/>
            </a:p>
          </p:txBody>
        </p:sp>
        <p:sp>
          <p:nvSpPr>
            <p:cNvPr id="15" name="TextBox 15"/>
            <p:cNvSpPr txBox="1"/>
            <p:nvPr/>
          </p:nvSpPr>
          <p:spPr>
            <a:xfrm>
              <a:off x="0" y="-28575"/>
              <a:ext cx="594294" cy="317744"/>
            </a:xfrm>
            <a:prstGeom prst="rect">
              <a:avLst/>
            </a:prstGeom>
          </p:spPr>
          <p:txBody>
            <a:bodyPr lIns="50800" tIns="50800" rIns="50800" bIns="50800" rtlCol="0" anchor="ctr"/>
            <a:lstStyle/>
            <a:p>
              <a:pPr algn="ctr">
                <a:lnSpc>
                  <a:spcPts val="2376"/>
                </a:lnSpc>
              </a:pPr>
              <a:endParaRPr/>
            </a:p>
          </p:txBody>
        </p:sp>
      </p:grpSp>
      <p:sp>
        <p:nvSpPr>
          <p:cNvPr id="16" name="TextBox 16"/>
          <p:cNvSpPr txBox="1"/>
          <p:nvPr/>
        </p:nvSpPr>
        <p:spPr>
          <a:xfrm>
            <a:off x="15848354" y="9468271"/>
            <a:ext cx="1862305" cy="583838"/>
          </a:xfrm>
          <a:prstGeom prst="rect">
            <a:avLst/>
          </a:prstGeom>
        </p:spPr>
        <p:txBody>
          <a:bodyPr lIns="0" tIns="0" rIns="0" bIns="0" rtlCol="0" anchor="t">
            <a:spAutoFit/>
          </a:bodyPr>
          <a:lstStyle/>
          <a:p>
            <a:pPr algn="ctr">
              <a:lnSpc>
                <a:spcPts val="4736"/>
              </a:lnSpc>
            </a:pPr>
            <a:r>
              <a:rPr lang="en-US" sz="3382">
                <a:solidFill>
                  <a:srgbClr val="FFFFFF"/>
                </a:solidFill>
                <a:latin typeface="Archivo Black"/>
                <a:ea typeface="Archivo Black"/>
                <a:cs typeface="Archivo Black"/>
                <a:sym typeface="Archivo Black"/>
              </a:rPr>
              <a:t>page 06</a:t>
            </a:r>
          </a:p>
        </p:txBody>
      </p:sp>
      <p:pic>
        <p:nvPicPr>
          <p:cNvPr id="28" name="Picture 27">
            <a:extLst>
              <a:ext uri="{FF2B5EF4-FFF2-40B4-BE49-F238E27FC236}">
                <a16:creationId xmlns:a16="http://schemas.microsoft.com/office/drawing/2014/main" id="{BF9CAB8F-04E1-D5C6-4B0E-BBF2CF9DA3C5}"/>
              </a:ext>
            </a:extLst>
          </p:cNvPr>
          <p:cNvPicPr>
            <a:picLocks noChangeAspect="1"/>
          </p:cNvPicPr>
          <p:nvPr/>
        </p:nvPicPr>
        <p:blipFill>
          <a:blip r:embed="rId15"/>
          <a:stretch>
            <a:fillRect/>
          </a:stretch>
        </p:blipFill>
        <p:spPr>
          <a:xfrm>
            <a:off x="2895600" y="1848787"/>
            <a:ext cx="11187811" cy="7460792"/>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F7FF"/>
        </a:solidFill>
        <a:effectLst/>
      </p:bgPr>
    </p:bg>
    <p:spTree>
      <p:nvGrpSpPr>
        <p:cNvPr id="1" name=""/>
        <p:cNvGrpSpPr/>
        <p:nvPr/>
      </p:nvGrpSpPr>
      <p:grpSpPr>
        <a:xfrm>
          <a:off x="0" y="0"/>
          <a:ext cx="0" cy="0"/>
          <a:chOff x="0" y="0"/>
          <a:chExt cx="0" cy="0"/>
        </a:xfrm>
      </p:grpSpPr>
      <p:sp>
        <p:nvSpPr>
          <p:cNvPr id="2" name="Freeform 2"/>
          <p:cNvSpPr/>
          <p:nvPr/>
        </p:nvSpPr>
        <p:spPr>
          <a:xfrm>
            <a:off x="3581564" y="1880800"/>
            <a:ext cx="11124871" cy="7428779"/>
          </a:xfrm>
          <a:custGeom>
            <a:avLst/>
            <a:gdLst/>
            <a:ahLst/>
            <a:cxnLst/>
            <a:rect l="l" t="t" r="r" b="b"/>
            <a:pathLst>
              <a:path w="11124871" h="7428779">
                <a:moveTo>
                  <a:pt x="0" y="0"/>
                </a:moveTo>
                <a:lnTo>
                  <a:pt x="11124872" y="0"/>
                </a:lnTo>
                <a:lnTo>
                  <a:pt x="11124872" y="7428779"/>
                </a:lnTo>
                <a:lnTo>
                  <a:pt x="0" y="7428779"/>
                </a:lnTo>
                <a:lnTo>
                  <a:pt x="0" y="0"/>
                </a:lnTo>
                <a:close/>
              </a:path>
            </a:pathLst>
          </a:custGeom>
          <a:blipFill>
            <a:blip r:embed="rId2"/>
            <a:stretch>
              <a:fillRect/>
            </a:stretch>
          </a:blipFill>
        </p:spPr>
        <p:txBody>
          <a:bodyPr/>
          <a:lstStyle/>
          <a:p>
            <a:endParaRPr lang="en-US"/>
          </a:p>
        </p:txBody>
      </p:sp>
      <p:sp>
        <p:nvSpPr>
          <p:cNvPr id="3" name="Freeform 3"/>
          <p:cNvSpPr/>
          <p:nvPr/>
        </p:nvSpPr>
        <p:spPr>
          <a:xfrm>
            <a:off x="14870466" y="6487462"/>
            <a:ext cx="2816608" cy="2770838"/>
          </a:xfrm>
          <a:custGeom>
            <a:avLst/>
            <a:gdLst/>
            <a:ahLst/>
            <a:cxnLst/>
            <a:rect l="l" t="t" r="r" b="b"/>
            <a:pathLst>
              <a:path w="2816608" h="2770838">
                <a:moveTo>
                  <a:pt x="0" y="0"/>
                </a:moveTo>
                <a:lnTo>
                  <a:pt x="2816608" y="0"/>
                </a:lnTo>
                <a:lnTo>
                  <a:pt x="2816608" y="2770838"/>
                </a:lnTo>
                <a:lnTo>
                  <a:pt x="0" y="27708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311861" y="2249987"/>
            <a:ext cx="3050996" cy="3293923"/>
          </a:xfrm>
          <a:custGeom>
            <a:avLst/>
            <a:gdLst/>
            <a:ahLst/>
            <a:cxnLst/>
            <a:rect l="l" t="t" r="r" b="b"/>
            <a:pathLst>
              <a:path w="3050996" h="3293923">
                <a:moveTo>
                  <a:pt x="0" y="0"/>
                </a:moveTo>
                <a:lnTo>
                  <a:pt x="3050997" y="0"/>
                </a:lnTo>
                <a:lnTo>
                  <a:pt x="3050997" y="3293923"/>
                </a:lnTo>
                <a:lnTo>
                  <a:pt x="0" y="32939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TextBox 5"/>
          <p:cNvSpPr txBox="1"/>
          <p:nvPr/>
        </p:nvSpPr>
        <p:spPr>
          <a:xfrm>
            <a:off x="2247483" y="501332"/>
            <a:ext cx="13793034" cy="767839"/>
          </a:xfrm>
          <a:prstGeom prst="rect">
            <a:avLst/>
          </a:prstGeom>
        </p:spPr>
        <p:txBody>
          <a:bodyPr lIns="0" tIns="0" rIns="0" bIns="0" rtlCol="0" anchor="t">
            <a:spAutoFit/>
          </a:bodyPr>
          <a:lstStyle/>
          <a:p>
            <a:pPr algn="ctr">
              <a:lnSpc>
                <a:spcPts val="6439"/>
              </a:lnSpc>
            </a:pPr>
            <a:r>
              <a:rPr lang="en-US" sz="4599" b="1" dirty="0">
                <a:solidFill>
                  <a:srgbClr val="000000"/>
                </a:solidFill>
                <a:latin typeface="Canva Sans Bold" panose="020B0604020202020204" charset="0"/>
                <a:ea typeface="Arial Bold"/>
                <a:cs typeface="Arial Bold"/>
                <a:sym typeface="Arial Bold"/>
              </a:rPr>
              <a:t>How much do you spend time on social media?</a:t>
            </a:r>
          </a:p>
        </p:txBody>
      </p:sp>
      <p:grpSp>
        <p:nvGrpSpPr>
          <p:cNvPr id="6" name="Group 6"/>
          <p:cNvGrpSpPr/>
          <p:nvPr/>
        </p:nvGrpSpPr>
        <p:grpSpPr>
          <a:xfrm>
            <a:off x="15745927" y="9309579"/>
            <a:ext cx="2395124" cy="977421"/>
            <a:chOff x="0" y="0"/>
            <a:chExt cx="708594" cy="289169"/>
          </a:xfrm>
        </p:grpSpPr>
        <p:sp>
          <p:nvSpPr>
            <p:cNvPr id="7" name="Freeform 7"/>
            <p:cNvSpPr/>
            <p:nvPr/>
          </p:nvSpPr>
          <p:spPr>
            <a:xfrm>
              <a:off x="0" y="0"/>
              <a:ext cx="708594" cy="289169"/>
            </a:xfrm>
            <a:custGeom>
              <a:avLst/>
              <a:gdLst/>
              <a:ahLst/>
              <a:cxnLst/>
              <a:rect l="l" t="t" r="r" b="b"/>
              <a:pathLst>
                <a:path w="708594" h="289169">
                  <a:moveTo>
                    <a:pt x="505394" y="0"/>
                  </a:moveTo>
                  <a:lnTo>
                    <a:pt x="0" y="0"/>
                  </a:lnTo>
                  <a:lnTo>
                    <a:pt x="0" y="289169"/>
                  </a:lnTo>
                  <a:lnTo>
                    <a:pt x="505394" y="289169"/>
                  </a:lnTo>
                  <a:lnTo>
                    <a:pt x="708594" y="144584"/>
                  </a:lnTo>
                  <a:lnTo>
                    <a:pt x="505394" y="0"/>
                  </a:lnTo>
                  <a:close/>
                </a:path>
              </a:pathLst>
            </a:custGeom>
            <a:solidFill>
              <a:srgbClr val="B1C9EB"/>
            </a:solidFill>
          </p:spPr>
          <p:txBody>
            <a:bodyPr/>
            <a:lstStyle/>
            <a:p>
              <a:endParaRPr lang="en-US"/>
            </a:p>
          </p:txBody>
        </p:sp>
        <p:sp>
          <p:nvSpPr>
            <p:cNvPr id="8" name="TextBox 8"/>
            <p:cNvSpPr txBox="1"/>
            <p:nvPr/>
          </p:nvSpPr>
          <p:spPr>
            <a:xfrm>
              <a:off x="0" y="-28575"/>
              <a:ext cx="594294" cy="317744"/>
            </a:xfrm>
            <a:prstGeom prst="rect">
              <a:avLst/>
            </a:prstGeom>
          </p:spPr>
          <p:txBody>
            <a:bodyPr lIns="50800" tIns="50800" rIns="50800" bIns="50800" rtlCol="0" anchor="ctr"/>
            <a:lstStyle/>
            <a:p>
              <a:pPr algn="ctr">
                <a:lnSpc>
                  <a:spcPts val="2376"/>
                </a:lnSpc>
              </a:pPr>
              <a:endParaRPr/>
            </a:p>
          </p:txBody>
        </p:sp>
      </p:grpSp>
      <p:sp>
        <p:nvSpPr>
          <p:cNvPr id="9" name="TextBox 9"/>
          <p:cNvSpPr txBox="1"/>
          <p:nvPr/>
        </p:nvSpPr>
        <p:spPr>
          <a:xfrm>
            <a:off x="15848354" y="9468271"/>
            <a:ext cx="1862305" cy="583838"/>
          </a:xfrm>
          <a:prstGeom prst="rect">
            <a:avLst/>
          </a:prstGeom>
        </p:spPr>
        <p:txBody>
          <a:bodyPr lIns="0" tIns="0" rIns="0" bIns="0" rtlCol="0" anchor="t">
            <a:spAutoFit/>
          </a:bodyPr>
          <a:lstStyle/>
          <a:p>
            <a:pPr algn="ctr">
              <a:lnSpc>
                <a:spcPts val="4736"/>
              </a:lnSpc>
            </a:pPr>
            <a:r>
              <a:rPr lang="en-US" sz="3382">
                <a:solidFill>
                  <a:srgbClr val="FFFFFF"/>
                </a:solidFill>
                <a:latin typeface="Archivo Black"/>
                <a:ea typeface="Archivo Black"/>
                <a:cs typeface="Archivo Black"/>
                <a:sym typeface="Archivo Black"/>
              </a:rPr>
              <a:t>page 07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9E1ED"/>
        </a:solidFill>
        <a:effectLst/>
      </p:bgPr>
    </p:bg>
    <p:spTree>
      <p:nvGrpSpPr>
        <p:cNvPr id="1" name=""/>
        <p:cNvGrpSpPr/>
        <p:nvPr/>
      </p:nvGrpSpPr>
      <p:grpSpPr>
        <a:xfrm>
          <a:off x="0" y="0"/>
          <a:ext cx="0" cy="0"/>
          <a:chOff x="0" y="0"/>
          <a:chExt cx="0" cy="0"/>
        </a:xfrm>
      </p:grpSpPr>
      <p:sp>
        <p:nvSpPr>
          <p:cNvPr id="2" name="Freeform 2"/>
          <p:cNvSpPr/>
          <p:nvPr/>
        </p:nvSpPr>
        <p:spPr>
          <a:xfrm>
            <a:off x="3485075" y="1999237"/>
            <a:ext cx="11317850" cy="7545233"/>
          </a:xfrm>
          <a:custGeom>
            <a:avLst/>
            <a:gdLst/>
            <a:ahLst/>
            <a:cxnLst/>
            <a:rect l="l" t="t" r="r" b="b"/>
            <a:pathLst>
              <a:path w="11317850" h="7545233">
                <a:moveTo>
                  <a:pt x="0" y="0"/>
                </a:moveTo>
                <a:lnTo>
                  <a:pt x="11317850" y="0"/>
                </a:lnTo>
                <a:lnTo>
                  <a:pt x="11317850" y="7545234"/>
                </a:lnTo>
                <a:lnTo>
                  <a:pt x="0" y="7545234"/>
                </a:lnTo>
                <a:lnTo>
                  <a:pt x="0" y="0"/>
                </a:lnTo>
                <a:close/>
              </a:path>
            </a:pathLst>
          </a:custGeom>
          <a:blipFill>
            <a:blip r:embed="rId2"/>
            <a:stretch>
              <a:fillRect/>
            </a:stretch>
          </a:blipFill>
        </p:spPr>
        <p:txBody>
          <a:bodyPr/>
          <a:lstStyle/>
          <a:p>
            <a:endParaRPr lang="en-US"/>
          </a:p>
        </p:txBody>
      </p:sp>
      <p:sp>
        <p:nvSpPr>
          <p:cNvPr id="3" name="Freeform 3"/>
          <p:cNvSpPr/>
          <p:nvPr/>
        </p:nvSpPr>
        <p:spPr>
          <a:xfrm>
            <a:off x="15122841" y="5917620"/>
            <a:ext cx="2769072" cy="3391959"/>
          </a:xfrm>
          <a:custGeom>
            <a:avLst/>
            <a:gdLst/>
            <a:ahLst/>
            <a:cxnLst/>
            <a:rect l="l" t="t" r="r" b="b"/>
            <a:pathLst>
              <a:path w="2769072" h="3391959">
                <a:moveTo>
                  <a:pt x="0" y="0"/>
                </a:moveTo>
                <a:lnTo>
                  <a:pt x="2769071" y="0"/>
                </a:lnTo>
                <a:lnTo>
                  <a:pt x="2769071" y="3391959"/>
                </a:lnTo>
                <a:lnTo>
                  <a:pt x="0" y="339195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627693" y="385509"/>
            <a:ext cx="16631607" cy="1536066"/>
          </a:xfrm>
          <a:prstGeom prst="rect">
            <a:avLst/>
          </a:prstGeom>
        </p:spPr>
        <p:txBody>
          <a:bodyPr lIns="0" tIns="0" rIns="0" bIns="0" rtlCol="0" anchor="t">
            <a:spAutoFit/>
          </a:bodyPr>
          <a:lstStyle/>
          <a:p>
            <a:pPr algn="ctr">
              <a:lnSpc>
                <a:spcPts val="6159"/>
              </a:lnSpc>
            </a:pPr>
            <a:r>
              <a:rPr lang="en-US" sz="4399" b="1" dirty="0">
                <a:solidFill>
                  <a:srgbClr val="000000"/>
                </a:solidFill>
                <a:latin typeface="Canva Sans Bold"/>
                <a:ea typeface="Canva Sans Bold"/>
                <a:cs typeface="Canva Sans Bold"/>
                <a:sym typeface="Canva Sans Bold"/>
              </a:rPr>
              <a:t>How frequently do people going through social media in daily life?</a:t>
            </a:r>
          </a:p>
        </p:txBody>
      </p:sp>
      <p:grpSp>
        <p:nvGrpSpPr>
          <p:cNvPr id="5" name="Group 5"/>
          <p:cNvGrpSpPr/>
          <p:nvPr/>
        </p:nvGrpSpPr>
        <p:grpSpPr>
          <a:xfrm>
            <a:off x="15745927" y="9309579"/>
            <a:ext cx="2395124" cy="977421"/>
            <a:chOff x="0" y="0"/>
            <a:chExt cx="708594" cy="289169"/>
          </a:xfrm>
        </p:grpSpPr>
        <p:sp>
          <p:nvSpPr>
            <p:cNvPr id="6" name="Freeform 6"/>
            <p:cNvSpPr/>
            <p:nvPr/>
          </p:nvSpPr>
          <p:spPr>
            <a:xfrm>
              <a:off x="0" y="0"/>
              <a:ext cx="708594" cy="289169"/>
            </a:xfrm>
            <a:custGeom>
              <a:avLst/>
              <a:gdLst/>
              <a:ahLst/>
              <a:cxnLst/>
              <a:rect l="l" t="t" r="r" b="b"/>
              <a:pathLst>
                <a:path w="708594" h="289169">
                  <a:moveTo>
                    <a:pt x="505394" y="0"/>
                  </a:moveTo>
                  <a:lnTo>
                    <a:pt x="0" y="0"/>
                  </a:lnTo>
                  <a:lnTo>
                    <a:pt x="0" y="289169"/>
                  </a:lnTo>
                  <a:lnTo>
                    <a:pt x="505394" y="289169"/>
                  </a:lnTo>
                  <a:lnTo>
                    <a:pt x="708594" y="144584"/>
                  </a:lnTo>
                  <a:lnTo>
                    <a:pt x="505394" y="0"/>
                  </a:lnTo>
                  <a:close/>
                </a:path>
              </a:pathLst>
            </a:custGeom>
            <a:solidFill>
              <a:srgbClr val="B1C9EB"/>
            </a:solidFill>
          </p:spPr>
          <p:txBody>
            <a:bodyPr/>
            <a:lstStyle/>
            <a:p>
              <a:endParaRPr lang="en-US"/>
            </a:p>
          </p:txBody>
        </p:sp>
        <p:sp>
          <p:nvSpPr>
            <p:cNvPr id="7" name="TextBox 7"/>
            <p:cNvSpPr txBox="1"/>
            <p:nvPr/>
          </p:nvSpPr>
          <p:spPr>
            <a:xfrm>
              <a:off x="0" y="-28575"/>
              <a:ext cx="594294" cy="317744"/>
            </a:xfrm>
            <a:prstGeom prst="rect">
              <a:avLst/>
            </a:prstGeom>
          </p:spPr>
          <p:txBody>
            <a:bodyPr lIns="50800" tIns="50800" rIns="50800" bIns="50800" rtlCol="0" anchor="ctr"/>
            <a:lstStyle/>
            <a:p>
              <a:pPr algn="ctr">
                <a:lnSpc>
                  <a:spcPts val="2376"/>
                </a:lnSpc>
              </a:pPr>
              <a:endParaRPr/>
            </a:p>
          </p:txBody>
        </p:sp>
      </p:grpSp>
      <p:sp>
        <p:nvSpPr>
          <p:cNvPr id="8" name="TextBox 8"/>
          <p:cNvSpPr txBox="1"/>
          <p:nvPr/>
        </p:nvSpPr>
        <p:spPr>
          <a:xfrm>
            <a:off x="15848354" y="9468271"/>
            <a:ext cx="1862305" cy="583838"/>
          </a:xfrm>
          <a:prstGeom prst="rect">
            <a:avLst/>
          </a:prstGeom>
        </p:spPr>
        <p:txBody>
          <a:bodyPr lIns="0" tIns="0" rIns="0" bIns="0" rtlCol="0" anchor="t">
            <a:spAutoFit/>
          </a:bodyPr>
          <a:lstStyle/>
          <a:p>
            <a:pPr algn="ctr">
              <a:lnSpc>
                <a:spcPts val="4736"/>
              </a:lnSpc>
            </a:pPr>
            <a:r>
              <a:rPr lang="en-US" sz="3382">
                <a:solidFill>
                  <a:srgbClr val="FFFFFF"/>
                </a:solidFill>
                <a:latin typeface="Archivo Black"/>
                <a:ea typeface="Archivo Black"/>
                <a:cs typeface="Archivo Black"/>
                <a:sym typeface="Archivo Black"/>
              </a:rPr>
              <a:t>page 08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F7FF"/>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E32CE10-DE8F-6652-FB41-4C55E4BFD173}"/>
              </a:ext>
            </a:extLst>
          </p:cNvPr>
          <p:cNvGrpSpPr/>
          <p:nvPr/>
        </p:nvGrpSpPr>
        <p:grpSpPr>
          <a:xfrm>
            <a:off x="4150004" y="881299"/>
            <a:ext cx="9987991" cy="9405701"/>
            <a:chOff x="-123487" y="855793"/>
            <a:chExt cx="9987991" cy="9405701"/>
          </a:xfrm>
        </p:grpSpPr>
        <p:pic>
          <p:nvPicPr>
            <p:cNvPr id="2" name="Picture 2"/>
            <p:cNvPicPr>
              <a:picLocks noChangeAspect="1"/>
            </p:cNvPicPr>
            <p:nvPr/>
          </p:nvPicPr>
          <p:blipFill>
            <a:blip r:embed="rId2"/>
            <a:stretch>
              <a:fillRect/>
            </a:stretch>
          </p:blipFill>
          <p:spPr>
            <a:xfrm>
              <a:off x="-123487" y="855793"/>
              <a:ext cx="9987991" cy="9405701"/>
            </a:xfrm>
            <a:prstGeom prst="rect">
              <a:avLst/>
            </a:prstGeom>
          </p:spPr>
        </p:pic>
        <p:sp>
          <p:nvSpPr>
            <p:cNvPr id="3" name="Freeform 3"/>
            <p:cNvSpPr/>
            <p:nvPr/>
          </p:nvSpPr>
          <p:spPr>
            <a:xfrm>
              <a:off x="4075755" y="6647118"/>
              <a:ext cx="2155483" cy="2388062"/>
            </a:xfrm>
            <a:custGeom>
              <a:avLst/>
              <a:gdLst/>
              <a:ahLst/>
              <a:cxnLst/>
              <a:rect l="l" t="t" r="r" b="b"/>
              <a:pathLst>
                <a:path w="2155483" h="2388062">
                  <a:moveTo>
                    <a:pt x="0" y="0"/>
                  </a:moveTo>
                  <a:lnTo>
                    <a:pt x="2155483" y="0"/>
                  </a:lnTo>
                  <a:lnTo>
                    <a:pt x="2155483" y="2388062"/>
                  </a:lnTo>
                  <a:lnTo>
                    <a:pt x="0" y="2388062"/>
                  </a:lnTo>
                  <a:lnTo>
                    <a:pt x="0" y="0"/>
                  </a:lnTo>
                  <a:close/>
                </a:path>
              </a:pathLst>
            </a:custGeom>
            <a:blipFill>
              <a:blip r:embed="rId3"/>
              <a:stretch>
                <a:fillRect l="-20640" r="-35953"/>
              </a:stretch>
            </a:blipFill>
          </p:spPr>
          <p:txBody>
            <a:bodyPr/>
            <a:lstStyle/>
            <a:p>
              <a:endParaRPr lang="en-US"/>
            </a:p>
          </p:txBody>
        </p:sp>
        <p:sp>
          <p:nvSpPr>
            <p:cNvPr id="4" name="Freeform 4"/>
            <p:cNvSpPr/>
            <p:nvPr/>
          </p:nvSpPr>
          <p:spPr>
            <a:xfrm>
              <a:off x="6894176" y="7086562"/>
              <a:ext cx="2051389" cy="1958144"/>
            </a:xfrm>
            <a:custGeom>
              <a:avLst/>
              <a:gdLst/>
              <a:ahLst/>
              <a:cxnLst/>
              <a:rect l="l" t="t" r="r" b="b"/>
              <a:pathLst>
                <a:path w="2051389" h="1958144">
                  <a:moveTo>
                    <a:pt x="0" y="0"/>
                  </a:moveTo>
                  <a:lnTo>
                    <a:pt x="2051389" y="0"/>
                  </a:lnTo>
                  <a:lnTo>
                    <a:pt x="2051389" y="1958143"/>
                  </a:lnTo>
                  <a:lnTo>
                    <a:pt x="0" y="19581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1941639" y="7903088"/>
              <a:ext cx="1194820" cy="1132092"/>
            </a:xfrm>
            <a:custGeom>
              <a:avLst/>
              <a:gdLst/>
              <a:ahLst/>
              <a:cxnLst/>
              <a:rect l="l" t="t" r="r" b="b"/>
              <a:pathLst>
                <a:path w="1194820" h="1132092">
                  <a:moveTo>
                    <a:pt x="0" y="0"/>
                  </a:moveTo>
                  <a:lnTo>
                    <a:pt x="1194820" y="0"/>
                  </a:lnTo>
                  <a:lnTo>
                    <a:pt x="1194820" y="1132092"/>
                  </a:lnTo>
                  <a:lnTo>
                    <a:pt x="0" y="1132092"/>
                  </a:lnTo>
                  <a:lnTo>
                    <a:pt x="0" y="0"/>
                  </a:lnTo>
                  <a:close/>
                </a:path>
              </a:pathLst>
            </a:custGeom>
            <a:blipFill>
              <a:blip r:embed="rId6"/>
              <a:stretch>
                <a:fillRect/>
              </a:stretch>
            </a:blipFill>
          </p:spPr>
          <p:txBody>
            <a:bodyPr/>
            <a:lstStyle/>
            <a:p>
              <a:endParaRPr lang="en-US" dirty="0"/>
            </a:p>
          </p:txBody>
        </p:sp>
      </p:grpSp>
      <p:sp>
        <p:nvSpPr>
          <p:cNvPr id="7" name="TextBox 7"/>
          <p:cNvSpPr txBox="1"/>
          <p:nvPr/>
        </p:nvSpPr>
        <p:spPr>
          <a:xfrm>
            <a:off x="1574573" y="349250"/>
            <a:ext cx="15445383" cy="679450"/>
          </a:xfrm>
          <a:prstGeom prst="rect">
            <a:avLst/>
          </a:prstGeom>
        </p:spPr>
        <p:txBody>
          <a:bodyPr lIns="0" tIns="0" rIns="0" bIns="0" rtlCol="0" anchor="t">
            <a:spAutoFit/>
          </a:bodyPr>
          <a:lstStyle/>
          <a:p>
            <a:pPr algn="r">
              <a:lnSpc>
                <a:spcPts val="5599"/>
              </a:lnSpc>
            </a:pPr>
            <a:r>
              <a:rPr lang="en-US" sz="3999" b="1" dirty="0">
                <a:solidFill>
                  <a:srgbClr val="010B39"/>
                </a:solidFill>
                <a:latin typeface="Canva Sans Bold"/>
                <a:ea typeface="Canva Sans Bold"/>
                <a:cs typeface="Canva Sans Bold"/>
                <a:sym typeface="Canva Sans Bold"/>
              </a:rPr>
              <a:t>Study of the Type of Device using when engage in social media</a:t>
            </a:r>
          </a:p>
        </p:txBody>
      </p:sp>
      <p:grpSp>
        <p:nvGrpSpPr>
          <p:cNvPr id="9" name="Group 9"/>
          <p:cNvGrpSpPr/>
          <p:nvPr/>
        </p:nvGrpSpPr>
        <p:grpSpPr>
          <a:xfrm>
            <a:off x="15745927" y="9309579"/>
            <a:ext cx="2395124" cy="977421"/>
            <a:chOff x="0" y="0"/>
            <a:chExt cx="708594" cy="289169"/>
          </a:xfrm>
        </p:grpSpPr>
        <p:sp>
          <p:nvSpPr>
            <p:cNvPr id="10" name="Freeform 10"/>
            <p:cNvSpPr/>
            <p:nvPr/>
          </p:nvSpPr>
          <p:spPr>
            <a:xfrm>
              <a:off x="0" y="0"/>
              <a:ext cx="708594" cy="289169"/>
            </a:xfrm>
            <a:custGeom>
              <a:avLst/>
              <a:gdLst/>
              <a:ahLst/>
              <a:cxnLst/>
              <a:rect l="l" t="t" r="r" b="b"/>
              <a:pathLst>
                <a:path w="708594" h="289169">
                  <a:moveTo>
                    <a:pt x="505394" y="0"/>
                  </a:moveTo>
                  <a:lnTo>
                    <a:pt x="0" y="0"/>
                  </a:lnTo>
                  <a:lnTo>
                    <a:pt x="0" y="289169"/>
                  </a:lnTo>
                  <a:lnTo>
                    <a:pt x="505394" y="289169"/>
                  </a:lnTo>
                  <a:lnTo>
                    <a:pt x="708594" y="144584"/>
                  </a:lnTo>
                  <a:lnTo>
                    <a:pt x="505394" y="0"/>
                  </a:lnTo>
                  <a:close/>
                </a:path>
              </a:pathLst>
            </a:custGeom>
            <a:solidFill>
              <a:srgbClr val="B1C9EB"/>
            </a:solidFill>
          </p:spPr>
          <p:txBody>
            <a:bodyPr/>
            <a:lstStyle/>
            <a:p>
              <a:endParaRPr lang="en-US"/>
            </a:p>
          </p:txBody>
        </p:sp>
        <p:sp>
          <p:nvSpPr>
            <p:cNvPr id="11" name="TextBox 11"/>
            <p:cNvSpPr txBox="1"/>
            <p:nvPr/>
          </p:nvSpPr>
          <p:spPr>
            <a:xfrm>
              <a:off x="0" y="-28575"/>
              <a:ext cx="594294" cy="317744"/>
            </a:xfrm>
            <a:prstGeom prst="rect">
              <a:avLst/>
            </a:prstGeom>
          </p:spPr>
          <p:txBody>
            <a:bodyPr lIns="50800" tIns="50800" rIns="50800" bIns="50800" rtlCol="0" anchor="ctr"/>
            <a:lstStyle/>
            <a:p>
              <a:pPr algn="ctr">
                <a:lnSpc>
                  <a:spcPts val="2376"/>
                </a:lnSpc>
              </a:pPr>
              <a:endParaRPr/>
            </a:p>
          </p:txBody>
        </p:sp>
      </p:grpSp>
      <p:sp>
        <p:nvSpPr>
          <p:cNvPr id="12" name="TextBox 12"/>
          <p:cNvSpPr txBox="1"/>
          <p:nvPr/>
        </p:nvSpPr>
        <p:spPr>
          <a:xfrm>
            <a:off x="15848354" y="9468271"/>
            <a:ext cx="1862305" cy="583838"/>
          </a:xfrm>
          <a:prstGeom prst="rect">
            <a:avLst/>
          </a:prstGeom>
        </p:spPr>
        <p:txBody>
          <a:bodyPr lIns="0" tIns="0" rIns="0" bIns="0" rtlCol="0" anchor="t">
            <a:spAutoFit/>
          </a:bodyPr>
          <a:lstStyle/>
          <a:p>
            <a:pPr algn="ctr">
              <a:lnSpc>
                <a:spcPts val="4736"/>
              </a:lnSpc>
            </a:pPr>
            <a:r>
              <a:rPr lang="en-US" sz="3382">
                <a:solidFill>
                  <a:srgbClr val="FFFFFF"/>
                </a:solidFill>
                <a:latin typeface="Archivo Black"/>
                <a:ea typeface="Archivo Black"/>
                <a:cs typeface="Archivo Black"/>
                <a:sym typeface="Archivo Black"/>
              </a:rPr>
              <a:t>page 09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F7FF"/>
        </a:solidFill>
        <a:effectLst/>
      </p:bgPr>
    </p:bg>
    <p:spTree>
      <p:nvGrpSpPr>
        <p:cNvPr id="1" name=""/>
        <p:cNvGrpSpPr/>
        <p:nvPr/>
      </p:nvGrpSpPr>
      <p:grpSpPr>
        <a:xfrm>
          <a:off x="0" y="0"/>
          <a:ext cx="0" cy="0"/>
          <a:chOff x="0" y="0"/>
          <a:chExt cx="0" cy="0"/>
        </a:xfrm>
      </p:grpSpPr>
      <p:grpSp>
        <p:nvGrpSpPr>
          <p:cNvPr id="2" name="Group 2"/>
          <p:cNvGrpSpPr/>
          <p:nvPr/>
        </p:nvGrpSpPr>
        <p:grpSpPr>
          <a:xfrm>
            <a:off x="15745927" y="9309579"/>
            <a:ext cx="2395124" cy="977421"/>
            <a:chOff x="0" y="0"/>
            <a:chExt cx="708594" cy="289169"/>
          </a:xfrm>
        </p:grpSpPr>
        <p:sp>
          <p:nvSpPr>
            <p:cNvPr id="3" name="Freeform 3"/>
            <p:cNvSpPr/>
            <p:nvPr/>
          </p:nvSpPr>
          <p:spPr>
            <a:xfrm>
              <a:off x="0" y="0"/>
              <a:ext cx="708594" cy="289169"/>
            </a:xfrm>
            <a:custGeom>
              <a:avLst/>
              <a:gdLst/>
              <a:ahLst/>
              <a:cxnLst/>
              <a:rect l="l" t="t" r="r" b="b"/>
              <a:pathLst>
                <a:path w="708594" h="289169">
                  <a:moveTo>
                    <a:pt x="505394" y="0"/>
                  </a:moveTo>
                  <a:lnTo>
                    <a:pt x="0" y="0"/>
                  </a:lnTo>
                  <a:lnTo>
                    <a:pt x="0" y="289169"/>
                  </a:lnTo>
                  <a:lnTo>
                    <a:pt x="505394" y="289169"/>
                  </a:lnTo>
                  <a:lnTo>
                    <a:pt x="708594" y="144584"/>
                  </a:lnTo>
                  <a:lnTo>
                    <a:pt x="505394" y="0"/>
                  </a:lnTo>
                  <a:close/>
                </a:path>
              </a:pathLst>
            </a:custGeom>
            <a:solidFill>
              <a:srgbClr val="B1C9EB"/>
            </a:solidFill>
          </p:spPr>
          <p:txBody>
            <a:bodyPr/>
            <a:lstStyle/>
            <a:p>
              <a:endParaRPr lang="en-US"/>
            </a:p>
          </p:txBody>
        </p:sp>
        <p:sp>
          <p:nvSpPr>
            <p:cNvPr id="4" name="TextBox 4"/>
            <p:cNvSpPr txBox="1"/>
            <p:nvPr/>
          </p:nvSpPr>
          <p:spPr>
            <a:xfrm>
              <a:off x="0" y="-28575"/>
              <a:ext cx="594294" cy="317744"/>
            </a:xfrm>
            <a:prstGeom prst="rect">
              <a:avLst/>
            </a:prstGeom>
          </p:spPr>
          <p:txBody>
            <a:bodyPr lIns="50800" tIns="50800" rIns="50800" bIns="50800" rtlCol="0" anchor="ctr"/>
            <a:lstStyle/>
            <a:p>
              <a:pPr algn="ctr">
                <a:lnSpc>
                  <a:spcPts val="2376"/>
                </a:lnSpc>
              </a:pPr>
              <a:endParaRPr/>
            </a:p>
          </p:txBody>
        </p:sp>
      </p:grpSp>
      <p:sp>
        <p:nvSpPr>
          <p:cNvPr id="6" name="Freeform 6"/>
          <p:cNvSpPr/>
          <p:nvPr/>
        </p:nvSpPr>
        <p:spPr>
          <a:xfrm>
            <a:off x="0" y="8101496"/>
            <a:ext cx="3047660" cy="2185504"/>
          </a:xfrm>
          <a:custGeom>
            <a:avLst/>
            <a:gdLst/>
            <a:ahLst/>
            <a:cxnLst/>
            <a:rect l="l" t="t" r="r" b="b"/>
            <a:pathLst>
              <a:path w="3047660" h="2185504">
                <a:moveTo>
                  <a:pt x="0" y="0"/>
                </a:moveTo>
                <a:lnTo>
                  <a:pt x="3047660" y="0"/>
                </a:lnTo>
                <a:lnTo>
                  <a:pt x="3047660" y="2185504"/>
                </a:lnTo>
                <a:lnTo>
                  <a:pt x="0" y="2185504"/>
                </a:lnTo>
                <a:lnTo>
                  <a:pt x="0" y="0"/>
                </a:lnTo>
                <a:close/>
              </a:path>
            </a:pathLst>
          </a:custGeom>
          <a:blipFill>
            <a:blip r:embed="rId2"/>
            <a:stretch>
              <a:fillRect l="-2662" r="-3772"/>
            </a:stretch>
          </a:blipFill>
        </p:spPr>
        <p:txBody>
          <a:bodyPr/>
          <a:lstStyle/>
          <a:p>
            <a:endParaRPr lang="en-US"/>
          </a:p>
        </p:txBody>
      </p:sp>
      <p:sp>
        <p:nvSpPr>
          <p:cNvPr id="7" name="TextBox 7"/>
          <p:cNvSpPr txBox="1"/>
          <p:nvPr/>
        </p:nvSpPr>
        <p:spPr>
          <a:xfrm>
            <a:off x="4424839" y="287020"/>
            <a:ext cx="9438323" cy="741998"/>
          </a:xfrm>
          <a:prstGeom prst="rect">
            <a:avLst/>
          </a:prstGeom>
        </p:spPr>
        <p:txBody>
          <a:bodyPr lIns="0" tIns="0" rIns="0" bIns="0" rtlCol="0" anchor="t">
            <a:spAutoFit/>
          </a:bodyPr>
          <a:lstStyle/>
          <a:p>
            <a:pPr algn="ctr">
              <a:lnSpc>
                <a:spcPts val="6159"/>
              </a:lnSpc>
            </a:pPr>
            <a:r>
              <a:rPr lang="en-US" sz="4399" b="1" dirty="0">
                <a:solidFill>
                  <a:srgbClr val="000000"/>
                </a:solidFill>
                <a:latin typeface="Canva Sans Bold" panose="020B0604020202020204" charset="0"/>
                <a:ea typeface="Arial Bold"/>
                <a:cs typeface="Arial Bold"/>
                <a:sym typeface="Arial Bold"/>
              </a:rPr>
              <a:t>Video category preferences</a:t>
            </a:r>
          </a:p>
        </p:txBody>
      </p:sp>
      <p:sp>
        <p:nvSpPr>
          <p:cNvPr id="8" name="TextBox 8"/>
          <p:cNvSpPr txBox="1"/>
          <p:nvPr/>
        </p:nvSpPr>
        <p:spPr>
          <a:xfrm>
            <a:off x="15848354" y="9468271"/>
            <a:ext cx="1862305" cy="583838"/>
          </a:xfrm>
          <a:prstGeom prst="rect">
            <a:avLst/>
          </a:prstGeom>
        </p:spPr>
        <p:txBody>
          <a:bodyPr lIns="0" tIns="0" rIns="0" bIns="0" rtlCol="0" anchor="t">
            <a:spAutoFit/>
          </a:bodyPr>
          <a:lstStyle/>
          <a:p>
            <a:pPr algn="ctr">
              <a:lnSpc>
                <a:spcPts val="4736"/>
              </a:lnSpc>
            </a:pPr>
            <a:r>
              <a:rPr lang="en-US" sz="3382">
                <a:solidFill>
                  <a:srgbClr val="FFFFFF"/>
                </a:solidFill>
                <a:latin typeface="Archivo Black"/>
                <a:ea typeface="Archivo Black"/>
                <a:cs typeface="Archivo Black"/>
                <a:sym typeface="Archivo Black"/>
              </a:rPr>
              <a:t>page 10</a:t>
            </a:r>
          </a:p>
        </p:txBody>
      </p:sp>
      <p:pic>
        <p:nvPicPr>
          <p:cNvPr id="10" name="Picture 9">
            <a:extLst>
              <a:ext uri="{FF2B5EF4-FFF2-40B4-BE49-F238E27FC236}">
                <a16:creationId xmlns:a16="http://schemas.microsoft.com/office/drawing/2014/main" id="{493FA98C-8684-DAFB-EC3C-CC6DEBD6888D}"/>
              </a:ext>
            </a:extLst>
          </p:cNvPr>
          <p:cNvPicPr>
            <a:picLocks noChangeAspect="1"/>
          </p:cNvPicPr>
          <p:nvPr/>
        </p:nvPicPr>
        <p:blipFill>
          <a:blip r:embed="rId3"/>
          <a:stretch>
            <a:fillRect/>
          </a:stretch>
        </p:blipFill>
        <p:spPr>
          <a:xfrm>
            <a:off x="3047660" y="1409699"/>
            <a:ext cx="12105662" cy="774001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n-US" b="1" dirty="0"/>
          </a:p>
        </p:txBody>
      </p:sp>
      <p:sp>
        <p:nvSpPr>
          <p:cNvPr id="3" name="Freeform 3"/>
          <p:cNvSpPr/>
          <p:nvPr/>
        </p:nvSpPr>
        <p:spPr>
          <a:xfrm rot="119979">
            <a:off x="10454549" y="3678651"/>
            <a:ext cx="3766286" cy="4623788"/>
          </a:xfrm>
          <a:custGeom>
            <a:avLst/>
            <a:gdLst/>
            <a:ahLst/>
            <a:cxnLst/>
            <a:rect l="l" t="t" r="r" b="b"/>
            <a:pathLst>
              <a:path w="3766286" h="4623788">
                <a:moveTo>
                  <a:pt x="0" y="0"/>
                </a:moveTo>
                <a:lnTo>
                  <a:pt x="3766286" y="0"/>
                </a:lnTo>
                <a:lnTo>
                  <a:pt x="3766286" y="4623788"/>
                </a:lnTo>
                <a:lnTo>
                  <a:pt x="0" y="46237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838200" y="647700"/>
            <a:ext cx="9715500" cy="1088888"/>
          </a:xfrm>
          <a:prstGeom prst="rect">
            <a:avLst/>
          </a:prstGeom>
        </p:spPr>
        <p:txBody>
          <a:bodyPr wrap="square" lIns="0" tIns="0" rIns="0" bIns="0" rtlCol="0" anchor="t">
            <a:spAutoFit/>
          </a:bodyPr>
          <a:lstStyle/>
          <a:p>
            <a:pPr marL="0" lvl="0" indent="0" algn="ctr">
              <a:lnSpc>
                <a:spcPts val="9520"/>
              </a:lnSpc>
              <a:spcBef>
                <a:spcPct val="0"/>
              </a:spcBef>
            </a:pPr>
            <a:r>
              <a:rPr lang="en-US" sz="5000" b="1" dirty="0">
                <a:solidFill>
                  <a:schemeClr val="accent1">
                    <a:lumMod val="75000"/>
                  </a:schemeClr>
                </a:solidFill>
                <a:effectLst>
                  <a:outerShdw blurRad="38100" dist="38100" dir="2700000" algn="tl">
                    <a:srgbClr val="000000">
                      <a:alpha val="43137"/>
                    </a:srgbClr>
                  </a:outerShdw>
                </a:effectLst>
                <a:latin typeface="Canva Sans Bold" panose="020B0604020202020204" charset="0"/>
                <a:ea typeface="Arial Bold"/>
                <a:cs typeface="Arial Bold"/>
                <a:sym typeface="Arial Bold"/>
              </a:rPr>
              <a:t>What did we find?</a:t>
            </a:r>
          </a:p>
        </p:txBody>
      </p:sp>
      <p:grpSp>
        <p:nvGrpSpPr>
          <p:cNvPr id="6" name="Group 6"/>
          <p:cNvGrpSpPr/>
          <p:nvPr/>
        </p:nvGrpSpPr>
        <p:grpSpPr>
          <a:xfrm>
            <a:off x="15745927" y="9309579"/>
            <a:ext cx="2395124" cy="977421"/>
            <a:chOff x="0" y="0"/>
            <a:chExt cx="708594" cy="289169"/>
          </a:xfrm>
        </p:grpSpPr>
        <p:sp>
          <p:nvSpPr>
            <p:cNvPr id="7" name="Freeform 7"/>
            <p:cNvSpPr/>
            <p:nvPr/>
          </p:nvSpPr>
          <p:spPr>
            <a:xfrm>
              <a:off x="0" y="0"/>
              <a:ext cx="708594" cy="289169"/>
            </a:xfrm>
            <a:custGeom>
              <a:avLst/>
              <a:gdLst/>
              <a:ahLst/>
              <a:cxnLst/>
              <a:rect l="l" t="t" r="r" b="b"/>
              <a:pathLst>
                <a:path w="708594" h="289169">
                  <a:moveTo>
                    <a:pt x="505394" y="0"/>
                  </a:moveTo>
                  <a:lnTo>
                    <a:pt x="0" y="0"/>
                  </a:lnTo>
                  <a:lnTo>
                    <a:pt x="0" y="289169"/>
                  </a:lnTo>
                  <a:lnTo>
                    <a:pt x="505394" y="289169"/>
                  </a:lnTo>
                  <a:lnTo>
                    <a:pt x="708594" y="144584"/>
                  </a:lnTo>
                  <a:lnTo>
                    <a:pt x="505394" y="0"/>
                  </a:lnTo>
                  <a:close/>
                </a:path>
              </a:pathLst>
            </a:custGeom>
            <a:solidFill>
              <a:srgbClr val="B1C9EB"/>
            </a:solidFill>
          </p:spPr>
          <p:txBody>
            <a:bodyPr/>
            <a:lstStyle/>
            <a:p>
              <a:endParaRPr lang="en-US"/>
            </a:p>
          </p:txBody>
        </p:sp>
        <p:sp>
          <p:nvSpPr>
            <p:cNvPr id="8" name="TextBox 8"/>
            <p:cNvSpPr txBox="1"/>
            <p:nvPr/>
          </p:nvSpPr>
          <p:spPr>
            <a:xfrm>
              <a:off x="0" y="-28575"/>
              <a:ext cx="594294" cy="317744"/>
            </a:xfrm>
            <a:prstGeom prst="rect">
              <a:avLst/>
            </a:prstGeom>
          </p:spPr>
          <p:txBody>
            <a:bodyPr lIns="50800" tIns="50800" rIns="50800" bIns="50800" rtlCol="0" anchor="ctr"/>
            <a:lstStyle/>
            <a:p>
              <a:pPr algn="ctr">
                <a:lnSpc>
                  <a:spcPts val="2376"/>
                </a:lnSpc>
              </a:pPr>
              <a:endParaRPr/>
            </a:p>
          </p:txBody>
        </p:sp>
      </p:grpSp>
      <p:sp>
        <p:nvSpPr>
          <p:cNvPr id="9" name="TextBox 9"/>
          <p:cNvSpPr txBox="1"/>
          <p:nvPr/>
        </p:nvSpPr>
        <p:spPr>
          <a:xfrm>
            <a:off x="15848354" y="9468271"/>
            <a:ext cx="1862305" cy="583838"/>
          </a:xfrm>
          <a:prstGeom prst="rect">
            <a:avLst/>
          </a:prstGeom>
        </p:spPr>
        <p:txBody>
          <a:bodyPr lIns="0" tIns="0" rIns="0" bIns="0" rtlCol="0" anchor="t">
            <a:spAutoFit/>
          </a:bodyPr>
          <a:lstStyle/>
          <a:p>
            <a:pPr algn="ctr">
              <a:lnSpc>
                <a:spcPts val="4736"/>
              </a:lnSpc>
            </a:pPr>
            <a:r>
              <a:rPr lang="en-US" sz="3382">
                <a:solidFill>
                  <a:srgbClr val="FFFFFF"/>
                </a:solidFill>
                <a:latin typeface="Archivo Black"/>
                <a:ea typeface="Archivo Black"/>
                <a:cs typeface="Archivo Black"/>
                <a:sym typeface="Archivo Black"/>
              </a:rPr>
              <a:t>page 11</a:t>
            </a:r>
          </a:p>
        </p:txBody>
      </p:sp>
      <p:sp>
        <p:nvSpPr>
          <p:cNvPr id="5" name="TextBox 4">
            <a:extLst>
              <a:ext uri="{FF2B5EF4-FFF2-40B4-BE49-F238E27FC236}">
                <a16:creationId xmlns:a16="http://schemas.microsoft.com/office/drawing/2014/main" id="{1DD32E8C-492F-4E78-39AB-302BDC6EB26B}"/>
              </a:ext>
            </a:extLst>
          </p:cNvPr>
          <p:cNvSpPr txBox="1"/>
          <p:nvPr/>
        </p:nvSpPr>
        <p:spPr>
          <a:xfrm>
            <a:off x="1219200" y="2324100"/>
            <a:ext cx="9155825" cy="7171194"/>
          </a:xfrm>
          <a:prstGeom prst="rect">
            <a:avLst/>
          </a:prstGeom>
          <a:noFill/>
          <a:ln>
            <a:noFill/>
          </a:ln>
        </p:spPr>
        <p:txBody>
          <a:bodyPr wrap="square" rtlCol="0">
            <a:spAutoFit/>
          </a:bodyPr>
          <a:lstStyle/>
          <a:p>
            <a:pPr marL="457200" indent="-457200">
              <a:buFont typeface="Wingdings" panose="05000000000000000000" pitchFamily="2" charset="2"/>
              <a:buChar char="Ø"/>
            </a:pPr>
            <a:endParaRPr lang="en-US" sz="2800" b="1" dirty="0"/>
          </a:p>
          <a:p>
            <a:pPr marL="571500" indent="-571500">
              <a:buFont typeface="Wingdings" panose="05000000000000000000" pitchFamily="2" charset="2"/>
              <a:buChar char="Ø"/>
            </a:pPr>
            <a:r>
              <a:rPr lang="en-US" sz="3600" b="1" dirty="0"/>
              <a:t>Many users engage in social media as a routine, with habit being the main reason for usage rather than content interest.</a:t>
            </a:r>
          </a:p>
          <a:p>
            <a:pPr marL="571500" indent="-571500">
              <a:buFont typeface="Wingdings" panose="05000000000000000000" pitchFamily="2" charset="2"/>
              <a:buChar char="Ø"/>
            </a:pPr>
            <a:endParaRPr lang="en-US" sz="3600" b="1" dirty="0"/>
          </a:p>
          <a:p>
            <a:pPr marL="571500" indent="-571500">
              <a:buFont typeface="Wingdings" panose="05000000000000000000" pitchFamily="2" charset="2"/>
              <a:buChar char="Ø"/>
            </a:pPr>
            <a:r>
              <a:rPr lang="en-US" sz="3600" b="1" dirty="0"/>
              <a:t>Most users access social media through smartphones, contributing to habitual usage. </a:t>
            </a:r>
          </a:p>
          <a:p>
            <a:pPr marL="571500" indent="-571500">
              <a:buFont typeface="Wingdings" panose="05000000000000000000" pitchFamily="2" charset="2"/>
              <a:buChar char="Ø"/>
            </a:pPr>
            <a:endParaRPr lang="en-US" sz="3600" b="1" dirty="0"/>
          </a:p>
          <a:p>
            <a:pPr marL="571500" indent="-571500">
              <a:buFont typeface="Wingdings" panose="05000000000000000000" pitchFamily="2" charset="2"/>
              <a:buChar char="Ø"/>
            </a:pPr>
            <a:r>
              <a:rPr lang="en-US" sz="3600" b="1" dirty="0"/>
              <a:t>A large portion of users exhibit addictive tendencies, significantly impacting productivity and daily routines</a:t>
            </a:r>
            <a:r>
              <a:rPr lang="en-US" sz="2800" b="1" dirty="0"/>
              <a:t>.</a:t>
            </a:r>
          </a:p>
          <a:p>
            <a:pPr marL="571500" indent="-571500">
              <a:buFont typeface="Wingdings" panose="05000000000000000000" pitchFamily="2" charset="2"/>
              <a:buChar char="Ø"/>
            </a:pPr>
            <a:endParaRPr lang="en-US" sz="3600" b="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15745927" y="9309579"/>
            <a:ext cx="2395124" cy="977421"/>
            <a:chOff x="0" y="0"/>
            <a:chExt cx="708594" cy="289169"/>
          </a:xfrm>
        </p:grpSpPr>
        <p:sp>
          <p:nvSpPr>
            <p:cNvPr id="4" name="Freeform 4"/>
            <p:cNvSpPr/>
            <p:nvPr/>
          </p:nvSpPr>
          <p:spPr>
            <a:xfrm>
              <a:off x="0" y="0"/>
              <a:ext cx="708594" cy="289169"/>
            </a:xfrm>
            <a:custGeom>
              <a:avLst/>
              <a:gdLst/>
              <a:ahLst/>
              <a:cxnLst/>
              <a:rect l="l" t="t" r="r" b="b"/>
              <a:pathLst>
                <a:path w="708594" h="289169">
                  <a:moveTo>
                    <a:pt x="505394" y="0"/>
                  </a:moveTo>
                  <a:lnTo>
                    <a:pt x="0" y="0"/>
                  </a:lnTo>
                  <a:lnTo>
                    <a:pt x="0" y="289169"/>
                  </a:lnTo>
                  <a:lnTo>
                    <a:pt x="505394" y="289169"/>
                  </a:lnTo>
                  <a:lnTo>
                    <a:pt x="708594" y="144584"/>
                  </a:lnTo>
                  <a:lnTo>
                    <a:pt x="505394" y="0"/>
                  </a:lnTo>
                  <a:close/>
                </a:path>
              </a:pathLst>
            </a:custGeom>
            <a:solidFill>
              <a:srgbClr val="B1C9EB"/>
            </a:solidFill>
          </p:spPr>
          <p:txBody>
            <a:bodyPr/>
            <a:lstStyle/>
            <a:p>
              <a:endParaRPr lang="en-US"/>
            </a:p>
          </p:txBody>
        </p:sp>
        <p:sp>
          <p:nvSpPr>
            <p:cNvPr id="5" name="TextBox 5"/>
            <p:cNvSpPr txBox="1"/>
            <p:nvPr/>
          </p:nvSpPr>
          <p:spPr>
            <a:xfrm>
              <a:off x="0" y="-28575"/>
              <a:ext cx="594294" cy="317744"/>
            </a:xfrm>
            <a:prstGeom prst="rect">
              <a:avLst/>
            </a:prstGeom>
          </p:spPr>
          <p:txBody>
            <a:bodyPr lIns="50800" tIns="50800" rIns="50800" bIns="50800" rtlCol="0" anchor="ctr"/>
            <a:lstStyle/>
            <a:p>
              <a:pPr algn="ctr">
                <a:lnSpc>
                  <a:spcPts val="2376"/>
                </a:lnSpc>
              </a:pPr>
              <a:endParaRPr/>
            </a:p>
          </p:txBody>
        </p:sp>
      </p:grpSp>
      <p:sp>
        <p:nvSpPr>
          <p:cNvPr id="6" name="TextBox 6"/>
          <p:cNvSpPr txBox="1"/>
          <p:nvPr/>
        </p:nvSpPr>
        <p:spPr>
          <a:xfrm>
            <a:off x="15848354" y="9468271"/>
            <a:ext cx="1862305" cy="583838"/>
          </a:xfrm>
          <a:prstGeom prst="rect">
            <a:avLst/>
          </a:prstGeom>
        </p:spPr>
        <p:txBody>
          <a:bodyPr lIns="0" tIns="0" rIns="0" bIns="0" rtlCol="0" anchor="t">
            <a:spAutoFit/>
          </a:bodyPr>
          <a:lstStyle/>
          <a:p>
            <a:pPr algn="ctr">
              <a:lnSpc>
                <a:spcPts val="4736"/>
              </a:lnSpc>
            </a:pPr>
            <a:r>
              <a:rPr lang="en-US" sz="3382" dirty="0">
                <a:solidFill>
                  <a:srgbClr val="FFFFFF"/>
                </a:solidFill>
                <a:latin typeface="Archivo Black"/>
                <a:ea typeface="Archivo Black"/>
                <a:cs typeface="Archivo Black"/>
                <a:sym typeface="Archivo Black"/>
              </a:rPr>
              <a:t>page 12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6" y="-154745"/>
            <a:ext cx="18288000" cy="10596490"/>
            <a:chOff x="0" y="0"/>
            <a:chExt cx="4816593" cy="2790845"/>
          </a:xfrm>
        </p:grpSpPr>
        <p:sp>
          <p:nvSpPr>
            <p:cNvPr id="3" name="Freeform 3"/>
            <p:cNvSpPr/>
            <p:nvPr/>
          </p:nvSpPr>
          <p:spPr>
            <a:xfrm>
              <a:off x="0" y="0"/>
              <a:ext cx="4816592" cy="2790845"/>
            </a:xfrm>
            <a:custGeom>
              <a:avLst/>
              <a:gdLst/>
              <a:ahLst/>
              <a:cxnLst/>
              <a:rect l="l" t="t" r="r" b="b"/>
              <a:pathLst>
                <a:path w="4816592" h="2790845">
                  <a:moveTo>
                    <a:pt x="0" y="0"/>
                  </a:moveTo>
                  <a:lnTo>
                    <a:pt x="4816592" y="0"/>
                  </a:lnTo>
                  <a:lnTo>
                    <a:pt x="4816592" y="2790845"/>
                  </a:lnTo>
                  <a:lnTo>
                    <a:pt x="0" y="2790845"/>
                  </a:lnTo>
                  <a:close/>
                </a:path>
              </a:pathLst>
            </a:custGeom>
            <a:solidFill>
              <a:srgbClr val="E8F7FF"/>
            </a:solidFill>
          </p:spPr>
          <p:txBody>
            <a:bodyPr/>
            <a:lstStyle/>
            <a:p>
              <a:endParaRPr lang="en-US"/>
            </a:p>
          </p:txBody>
        </p:sp>
        <p:sp>
          <p:nvSpPr>
            <p:cNvPr id="4" name="TextBox 4"/>
            <p:cNvSpPr txBox="1"/>
            <p:nvPr/>
          </p:nvSpPr>
          <p:spPr>
            <a:xfrm>
              <a:off x="0" y="-28575"/>
              <a:ext cx="4816593" cy="2819420"/>
            </a:xfrm>
            <a:prstGeom prst="rect">
              <a:avLst/>
            </a:prstGeom>
          </p:spPr>
          <p:txBody>
            <a:bodyPr lIns="50800" tIns="50800" rIns="50800" bIns="50800" rtlCol="0" anchor="ctr"/>
            <a:lstStyle/>
            <a:p>
              <a:pPr algn="ctr">
                <a:lnSpc>
                  <a:spcPts val="2376"/>
                </a:lnSpc>
              </a:pPr>
              <a:endParaRPr/>
            </a:p>
          </p:txBody>
        </p:sp>
      </p:grpSp>
      <p:sp>
        <p:nvSpPr>
          <p:cNvPr id="5" name="Freeform 5"/>
          <p:cNvSpPr/>
          <p:nvPr/>
        </p:nvSpPr>
        <p:spPr>
          <a:xfrm>
            <a:off x="0" y="-154745"/>
            <a:ext cx="12039600" cy="8574845"/>
          </a:xfrm>
          <a:custGeom>
            <a:avLst/>
            <a:gdLst/>
            <a:ahLst/>
            <a:cxnLst/>
            <a:rect l="l" t="t" r="r" b="b"/>
            <a:pathLst>
              <a:path w="14574906" h="8463133">
                <a:moveTo>
                  <a:pt x="0" y="0"/>
                </a:moveTo>
                <a:lnTo>
                  <a:pt x="14574906" y="0"/>
                </a:lnTo>
                <a:lnTo>
                  <a:pt x="14574906" y="8463134"/>
                </a:lnTo>
                <a:lnTo>
                  <a:pt x="0" y="8463134"/>
                </a:lnTo>
                <a:lnTo>
                  <a:pt x="0" y="0"/>
                </a:lnTo>
                <a:close/>
              </a:path>
            </a:pathLst>
          </a:custGeom>
          <a:blipFill>
            <a:blip r:embed="rId2"/>
            <a:stretch>
              <a:fillRect t="-34175" b="-11777"/>
            </a:stretch>
          </a:blipFill>
          <a:ln cap="rnd">
            <a:noFill/>
            <a:prstDash val="solid"/>
            <a:round/>
          </a:ln>
        </p:spPr>
        <p:txBody>
          <a:bodyPr/>
          <a:lstStyle/>
          <a:p>
            <a:endParaRPr lang="en-US"/>
          </a:p>
        </p:txBody>
      </p:sp>
      <p:sp>
        <p:nvSpPr>
          <p:cNvPr id="10" name="TextBox 9">
            <a:extLst>
              <a:ext uri="{FF2B5EF4-FFF2-40B4-BE49-F238E27FC236}">
                <a16:creationId xmlns:a16="http://schemas.microsoft.com/office/drawing/2014/main" id="{BCD32F9C-36B6-F2D9-7FF9-389B85381375}"/>
              </a:ext>
            </a:extLst>
          </p:cNvPr>
          <p:cNvSpPr txBox="1"/>
          <p:nvPr/>
        </p:nvSpPr>
        <p:spPr>
          <a:xfrm>
            <a:off x="12039600" y="6005685"/>
            <a:ext cx="6233154" cy="2677656"/>
          </a:xfrm>
          <a:prstGeom prst="rect">
            <a:avLst/>
          </a:prstGeom>
          <a:solidFill>
            <a:schemeClr val="accent5">
              <a:lumMod val="20000"/>
              <a:lumOff val="80000"/>
            </a:schemeClr>
          </a:solidFill>
        </p:spPr>
        <p:txBody>
          <a:bodyPr wrap="square" rtlCol="0">
            <a:spAutoFit/>
          </a:bodyPr>
          <a:lstStyle/>
          <a:p>
            <a:r>
              <a:rPr lang="pt-BR" sz="2800" b="1" u="sng" dirty="0">
                <a:latin typeface="Canva Sans"/>
              </a:rPr>
              <a:t>Group 20</a:t>
            </a:r>
          </a:p>
          <a:p>
            <a:r>
              <a:rPr lang="pt-BR" sz="2800" b="1" dirty="0">
                <a:latin typeface="Canva Sans"/>
              </a:rPr>
              <a:t>Ashani H. A. P.			s17240</a:t>
            </a:r>
          </a:p>
          <a:p>
            <a:r>
              <a:rPr lang="pt-BR" sz="2800" b="1" dirty="0">
                <a:latin typeface="Canva Sans"/>
              </a:rPr>
              <a:t>Hafsa M. H. F.			s17241</a:t>
            </a:r>
          </a:p>
          <a:p>
            <a:r>
              <a:rPr lang="pt-BR" sz="2800" b="1" dirty="0">
                <a:latin typeface="Canva Sans"/>
              </a:rPr>
              <a:t>Handapangoda H. S.		s17242</a:t>
            </a:r>
          </a:p>
          <a:p>
            <a:r>
              <a:rPr lang="pt-BR" sz="2800" b="1" dirty="0">
                <a:latin typeface="Canva Sans"/>
              </a:rPr>
              <a:t>Hemachandra K. D. S. S. N.	s17244</a:t>
            </a:r>
          </a:p>
          <a:p>
            <a:r>
              <a:rPr lang="pt-BR" sz="2800" b="1" dirty="0">
                <a:latin typeface="Canva Sans"/>
              </a:rPr>
              <a:t>Jayasundara S. D.			s17245</a:t>
            </a:r>
          </a:p>
        </p:txBody>
      </p:sp>
      <p:grpSp>
        <p:nvGrpSpPr>
          <p:cNvPr id="15" name="Group 14">
            <a:extLst>
              <a:ext uri="{FF2B5EF4-FFF2-40B4-BE49-F238E27FC236}">
                <a16:creationId xmlns:a16="http://schemas.microsoft.com/office/drawing/2014/main" id="{932B8693-61EA-0A53-0F7C-95ECE75E08F4}"/>
              </a:ext>
            </a:extLst>
          </p:cNvPr>
          <p:cNvGrpSpPr/>
          <p:nvPr/>
        </p:nvGrpSpPr>
        <p:grpSpPr>
          <a:xfrm>
            <a:off x="15811789" y="9301823"/>
            <a:ext cx="5295716" cy="1074008"/>
            <a:chOff x="12458989" y="9212993"/>
            <a:chExt cx="5295716" cy="1074008"/>
          </a:xfrm>
        </p:grpSpPr>
        <p:grpSp>
          <p:nvGrpSpPr>
            <p:cNvPr id="12" name="Group 3">
              <a:extLst>
                <a:ext uri="{FF2B5EF4-FFF2-40B4-BE49-F238E27FC236}">
                  <a16:creationId xmlns:a16="http://schemas.microsoft.com/office/drawing/2014/main" id="{B8FE10DF-6794-62D2-BF40-D252524E45FA}"/>
                </a:ext>
              </a:extLst>
            </p:cNvPr>
            <p:cNvGrpSpPr/>
            <p:nvPr/>
          </p:nvGrpSpPr>
          <p:grpSpPr>
            <a:xfrm>
              <a:off x="12458989" y="9212993"/>
              <a:ext cx="5295716" cy="1074008"/>
              <a:chOff x="-972436" y="-28575"/>
              <a:chExt cx="1566730" cy="317744"/>
            </a:xfrm>
          </p:grpSpPr>
          <p:sp>
            <p:nvSpPr>
              <p:cNvPr id="13" name="Freeform 4">
                <a:extLst>
                  <a:ext uri="{FF2B5EF4-FFF2-40B4-BE49-F238E27FC236}">
                    <a16:creationId xmlns:a16="http://schemas.microsoft.com/office/drawing/2014/main" id="{EB9A6580-64FA-3228-4949-DEC80296B103}"/>
                  </a:ext>
                </a:extLst>
              </p:cNvPr>
              <p:cNvSpPr/>
              <p:nvPr/>
            </p:nvSpPr>
            <p:spPr>
              <a:xfrm>
                <a:off x="-972436" y="0"/>
                <a:ext cx="708594" cy="289169"/>
              </a:xfrm>
              <a:custGeom>
                <a:avLst/>
                <a:gdLst/>
                <a:ahLst/>
                <a:cxnLst/>
                <a:rect l="l" t="t" r="r" b="b"/>
                <a:pathLst>
                  <a:path w="708594" h="289169">
                    <a:moveTo>
                      <a:pt x="505394" y="0"/>
                    </a:moveTo>
                    <a:lnTo>
                      <a:pt x="0" y="0"/>
                    </a:lnTo>
                    <a:lnTo>
                      <a:pt x="0" y="289169"/>
                    </a:lnTo>
                    <a:lnTo>
                      <a:pt x="505394" y="289169"/>
                    </a:lnTo>
                    <a:lnTo>
                      <a:pt x="708594" y="144584"/>
                    </a:lnTo>
                    <a:lnTo>
                      <a:pt x="505394" y="0"/>
                    </a:lnTo>
                    <a:close/>
                  </a:path>
                </a:pathLst>
              </a:custGeom>
              <a:solidFill>
                <a:srgbClr val="B1C9EB"/>
              </a:solidFill>
            </p:spPr>
            <p:txBody>
              <a:bodyPr/>
              <a:lstStyle/>
              <a:p>
                <a:endParaRPr lang="en-US"/>
              </a:p>
            </p:txBody>
          </p:sp>
          <p:sp>
            <p:nvSpPr>
              <p:cNvPr id="14" name="TextBox 5">
                <a:extLst>
                  <a:ext uri="{FF2B5EF4-FFF2-40B4-BE49-F238E27FC236}">
                    <a16:creationId xmlns:a16="http://schemas.microsoft.com/office/drawing/2014/main" id="{13CCF033-B68D-EE8D-E747-10D4F561FAF9}"/>
                  </a:ext>
                </a:extLst>
              </p:cNvPr>
              <p:cNvSpPr txBox="1"/>
              <p:nvPr/>
            </p:nvSpPr>
            <p:spPr>
              <a:xfrm>
                <a:off x="0" y="-28575"/>
                <a:ext cx="594294" cy="317744"/>
              </a:xfrm>
              <a:prstGeom prst="rect">
                <a:avLst/>
              </a:prstGeom>
            </p:spPr>
            <p:txBody>
              <a:bodyPr lIns="50800" tIns="50800" rIns="50800" bIns="50800" rtlCol="0" anchor="ctr"/>
              <a:lstStyle/>
              <a:p>
                <a:pPr algn="ctr">
                  <a:lnSpc>
                    <a:spcPts val="2376"/>
                  </a:lnSpc>
                </a:pPr>
                <a:endParaRPr/>
              </a:p>
            </p:txBody>
          </p:sp>
        </p:grpSp>
        <p:sp>
          <p:nvSpPr>
            <p:cNvPr id="9" name="TextBox 9"/>
            <p:cNvSpPr txBox="1"/>
            <p:nvPr/>
          </p:nvSpPr>
          <p:spPr>
            <a:xfrm>
              <a:off x="12725400" y="9476671"/>
              <a:ext cx="1862305" cy="583838"/>
            </a:xfrm>
            <a:prstGeom prst="rect">
              <a:avLst/>
            </a:prstGeom>
          </p:spPr>
          <p:txBody>
            <a:bodyPr lIns="0" tIns="0" rIns="0" bIns="0" rtlCol="0" anchor="t">
              <a:spAutoFit/>
            </a:bodyPr>
            <a:lstStyle/>
            <a:p>
              <a:pPr algn="ctr">
                <a:lnSpc>
                  <a:spcPts val="4736"/>
                </a:lnSpc>
              </a:pPr>
              <a:r>
                <a:rPr lang="en-US" sz="3382" dirty="0">
                  <a:solidFill>
                    <a:srgbClr val="FFFFFF"/>
                  </a:solidFill>
                  <a:latin typeface="Archivo Black"/>
                  <a:ea typeface="Archivo Black"/>
                  <a:cs typeface="Archivo Black"/>
                  <a:sym typeface="Archivo Black"/>
                </a:rPr>
                <a:t>page 13</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376</TotalTime>
  <Words>256</Words>
  <Application>Microsoft Office PowerPoint</Application>
  <PresentationFormat>Custom</PresentationFormat>
  <Paragraphs>46</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Calibri</vt:lpstr>
      <vt:lpstr>Canva Sans</vt:lpstr>
      <vt:lpstr>Rubik Medium</vt:lpstr>
      <vt:lpstr>Wingdings</vt:lpstr>
      <vt:lpstr>Canva Sans Bold</vt:lpstr>
      <vt:lpstr>Arial</vt:lpstr>
      <vt:lpstr>Archivo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Marketing Plan Presentation</dc:title>
  <dc:creator>Acer</dc:creator>
  <cp:lastModifiedBy>Sandali Hemachandra</cp:lastModifiedBy>
  <cp:revision>13</cp:revision>
  <dcterms:created xsi:type="dcterms:W3CDTF">2006-08-16T00:00:00Z</dcterms:created>
  <dcterms:modified xsi:type="dcterms:W3CDTF">2026-06-13T20:17:45Z</dcterms:modified>
  <dc:identifier>DAGPxAyRyfg</dc:identifier>
</cp:coreProperties>
</file>